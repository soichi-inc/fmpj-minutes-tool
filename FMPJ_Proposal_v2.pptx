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9849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5943600" y="0"/>
            <a:ext cx="3200400" cy="5143500"/>
          </a:xfrm>
          <a:prstGeom prst="rect">
            <a:avLst/>
          </a:prstGeom>
          <a:solidFill>
            <a:srgbClr val="141C3D">
              <a:alpha val="60000"/>
            </a:srgbClr>
          </a:solidFill>
          <a:ln/>
        </p:spPr>
      </p:sp>
      <p:sp>
        <p:nvSpPr>
          <p:cNvPr id="4" name="Text 2"/>
          <p:cNvSpPr/>
          <p:nvPr/>
        </p:nvSpPr>
        <p:spPr>
          <a:xfrm>
            <a:off x="731520" y="914400"/>
            <a:ext cx="5029200" cy="2194560"/>
          </a:xfrm>
          <a:prstGeom prst="rect">
            <a:avLst/>
          </a:prstGeom>
          <a:noFill/>
          <a:ln/>
        </p:spPr>
        <p:txBody>
          <a:bodyPr wrap="square" lIns="0" tIns="0" rIns="0" bIns="0" rtlCol="0" anchor="ctr"/>
          <a:lstStyle/>
          <a:p>
            <a:pPr marL="0" indent="0">
              <a:lnSpc>
                <a:spcPct val="130000"/>
              </a:lnSpc>
              <a:buNone/>
            </a:pPr>
            <a:r>
              <a:rPr lang="en-US" sz="3400" b="1" dirty="0">
                <a:solidFill>
                  <a:srgbClr val="FFFFFF"/>
                </a:solidFill>
                <a:latin typeface="Calibri" pitchFamily="34" charset="0"/>
                <a:ea typeface="Calibri" pitchFamily="34" charset="-122"/>
                <a:cs typeface="Calibri" pitchFamily="34" charset="-120"/>
              </a:rPr>
              <a:t>AI活用による</a:t>
            </a:r>
            <a:endParaRPr lang="en-US" sz="3400" dirty="0"/>
          </a:p>
          <a:p>
            <a:pPr marL="0" indent="0">
              <a:lnSpc>
                <a:spcPct val="130000"/>
              </a:lnSpc>
              <a:buNone/>
            </a:pPr>
            <a:r>
              <a:rPr lang="en-US" sz="3400" b="1" dirty="0">
                <a:solidFill>
                  <a:srgbClr val="FFFFFF"/>
                </a:solidFill>
                <a:latin typeface="Calibri" pitchFamily="34" charset="0"/>
                <a:ea typeface="Calibri" pitchFamily="34" charset="-122"/>
                <a:cs typeface="Calibri" pitchFamily="34" charset="-120"/>
              </a:rPr>
              <a:t>業務効率化のご提案</a:t>
            </a:r>
            <a:endParaRPr lang="en-US" sz="3400" dirty="0"/>
          </a:p>
        </p:txBody>
      </p:sp>
      <p:sp>
        <p:nvSpPr>
          <p:cNvPr id="5" name="Text 3"/>
          <p:cNvSpPr/>
          <p:nvPr/>
        </p:nvSpPr>
        <p:spPr>
          <a:xfrm>
            <a:off x="731520" y="3017520"/>
            <a:ext cx="50292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FMPJ専用 議事録自動生成ツールの開発・納品</a:t>
            </a:r>
            <a:endParaRPr lang="en-US" sz="1500" dirty="0"/>
          </a:p>
        </p:txBody>
      </p:sp>
      <p:sp>
        <p:nvSpPr>
          <p:cNvPr id="6" name="Shape 4"/>
          <p:cNvSpPr/>
          <p:nvPr/>
        </p:nvSpPr>
        <p:spPr>
          <a:xfrm>
            <a:off x="731520" y="3657600"/>
            <a:ext cx="1828800" cy="27432"/>
          </a:xfrm>
          <a:prstGeom prst="rect">
            <a:avLst/>
          </a:prstGeom>
          <a:solidFill>
            <a:srgbClr val="3B82F6"/>
          </a:solidFill>
          <a:ln/>
        </p:spPr>
      </p:sp>
      <p:sp>
        <p:nvSpPr>
          <p:cNvPr id="7" name="Text 5"/>
          <p:cNvSpPr/>
          <p:nvPr/>
        </p:nvSpPr>
        <p:spPr>
          <a:xfrm>
            <a:off x="731520" y="3840480"/>
            <a:ext cx="45720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一般社団法人 日本音楽制作者連盟 御中</a:t>
            </a:r>
            <a:endParaRPr lang="en-US" sz="1200" dirty="0"/>
          </a:p>
        </p:txBody>
      </p:sp>
      <p:sp>
        <p:nvSpPr>
          <p:cNvPr id="8" name="Text 6"/>
          <p:cNvSpPr/>
          <p:nvPr/>
        </p:nvSpPr>
        <p:spPr>
          <a:xfrm>
            <a:off x="731520" y="4160520"/>
            <a:ext cx="2743200" cy="274320"/>
          </a:xfrm>
          <a:prstGeom prst="rect">
            <a:avLst/>
          </a:prstGeom>
          <a:noFill/>
          <a:ln/>
        </p:spPr>
        <p:txBody>
          <a:bodyPr wrap="square" lIns="0" tIns="0" rIns="0" bIns="0" rtlCol="0" anchor="ctr"/>
          <a:lstStyle/>
          <a:p>
            <a:pPr marL="0" indent="0">
              <a:buNone/>
            </a:pPr>
            <a:r>
              <a:rPr lang="en-US" sz="1100" dirty="0">
                <a:solidFill>
                  <a:srgbClr val="8896AB"/>
                </a:solidFill>
                <a:latin typeface="Calibri" pitchFamily="34" charset="0"/>
                <a:ea typeface="Calibri" pitchFamily="34" charset="-122"/>
                <a:cs typeface="Calibri" pitchFamily="34" charset="-120"/>
              </a:rPr>
              <a:t>2026年3月2日（月）</a:t>
            </a:r>
            <a:endParaRPr lang="en-US" sz="1100" dirty="0"/>
          </a:p>
        </p:txBody>
      </p:sp>
      <p:sp>
        <p:nvSpPr>
          <p:cNvPr id="9" name="Text 7"/>
          <p:cNvSpPr/>
          <p:nvPr/>
        </p:nvSpPr>
        <p:spPr>
          <a:xfrm>
            <a:off x="731520" y="4434840"/>
            <a:ext cx="2743200" cy="274320"/>
          </a:xfrm>
          <a:prstGeom prst="rect">
            <a:avLst/>
          </a:prstGeom>
          <a:noFill/>
          <a:ln/>
        </p:spPr>
        <p:txBody>
          <a:bodyPr wrap="square" lIns="0" tIns="0" rIns="0" bIns="0" rtlCol="0" anchor="ctr"/>
          <a:lstStyle/>
          <a:p>
            <a:pPr marL="0" indent="0">
              <a:buNone/>
            </a:pPr>
            <a:r>
              <a:rPr lang="en-US" sz="1100" dirty="0">
                <a:solidFill>
                  <a:srgbClr val="8896AB"/>
                </a:solidFill>
                <a:latin typeface="Calibri" pitchFamily="34" charset="0"/>
                <a:ea typeface="Calibri" pitchFamily="34" charset="-122"/>
                <a:cs typeface="Calibri" pitchFamily="34" charset="-120"/>
              </a:rPr>
              <a:t>Soichi株式会社</a:t>
            </a:r>
            <a:endParaRPr lang="en-US" sz="1100" dirty="0"/>
          </a:p>
        </p:txBody>
      </p:sp>
      <p:pic>
        <p:nvPicPr>
          <p:cNvPr id="10" name="Image 0" descr="preencoded.png"/>
          <p:cNvPicPr>
            <a:picLocks noChangeAspect="1"/>
          </p:cNvPicPr>
          <p:nvPr/>
        </p:nvPicPr>
        <p:blipFill>
          <a:blip r:embed="rId3"/>
          <a:stretch>
            <a:fillRect/>
          </a:stretch>
        </p:blipFill>
        <p:spPr>
          <a:xfrm>
            <a:off x="6583680" y="1371600"/>
            <a:ext cx="640080" cy="640080"/>
          </a:xfrm>
          <a:prstGeom prst="rect">
            <a:avLst/>
          </a:prstGeom>
        </p:spPr>
      </p:pic>
      <p:pic>
        <p:nvPicPr>
          <p:cNvPr id="11" name="Image 1" descr="preencoded.png"/>
          <p:cNvPicPr>
            <a:picLocks noChangeAspect="1"/>
          </p:cNvPicPr>
          <p:nvPr/>
        </p:nvPicPr>
        <p:blipFill>
          <a:blip r:embed="rId4"/>
          <a:stretch>
            <a:fillRect/>
          </a:stretch>
        </p:blipFill>
        <p:spPr>
          <a:xfrm>
            <a:off x="7589520" y="2011680"/>
            <a:ext cx="548640" cy="548640"/>
          </a:xfrm>
          <a:prstGeom prst="rect">
            <a:avLst/>
          </a:prstGeom>
        </p:spPr>
      </p:pic>
      <p:pic>
        <p:nvPicPr>
          <p:cNvPr id="12" name="Image 2" descr="preencoded.png"/>
          <p:cNvPicPr>
            <a:picLocks noChangeAspect="1"/>
          </p:cNvPicPr>
          <p:nvPr/>
        </p:nvPicPr>
        <p:blipFill>
          <a:blip r:embed="rId5"/>
          <a:stretch>
            <a:fillRect/>
          </a:stretch>
        </p:blipFill>
        <p:spPr>
          <a:xfrm>
            <a:off x="6949440" y="274320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A1F36"/>
                </a:solidFill>
                <a:latin typeface="Calibri" pitchFamily="34" charset="0"/>
                <a:ea typeface="Calibri" pitchFamily="34" charset="-122"/>
                <a:cs typeface="Calibri" pitchFamily="34" charset="-120"/>
              </a:rPr>
              <a:t>本日のアジェンダ</a:t>
            </a:r>
            <a:endParaRPr lang="en-US" sz="2800" dirty="0"/>
          </a:p>
        </p:txBody>
      </p:sp>
      <p:sp>
        <p:nvSpPr>
          <p:cNvPr id="4" name="Shape 2"/>
          <p:cNvSpPr/>
          <p:nvPr/>
        </p:nvSpPr>
        <p:spPr>
          <a:xfrm>
            <a:off x="731520" y="1051560"/>
            <a:ext cx="347472" cy="347472"/>
          </a:xfrm>
          <a:prstGeom prst="ellipse">
            <a:avLst/>
          </a:prstGeom>
          <a:solidFill>
            <a:srgbClr val="1E2761"/>
          </a:solidFill>
          <a:ln/>
        </p:spPr>
      </p:sp>
      <p:sp>
        <p:nvSpPr>
          <p:cNvPr id="5" name="Text 3"/>
          <p:cNvSpPr/>
          <p:nvPr/>
        </p:nvSpPr>
        <p:spPr>
          <a:xfrm>
            <a:off x="731520" y="10515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280160" y="1033272"/>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宿題の確認と結論</a:t>
            </a:r>
            <a:endParaRPr lang="en-US" sz="1300" dirty="0"/>
          </a:p>
        </p:txBody>
      </p:sp>
      <p:sp>
        <p:nvSpPr>
          <p:cNvPr id="7" name="Text 5"/>
          <p:cNvSpPr/>
          <p:nvPr/>
        </p:nvSpPr>
        <p:spPr>
          <a:xfrm>
            <a:off x="4114800" y="1033272"/>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板垣事務局長からのご依頼への回答</a:t>
            </a:r>
            <a:endParaRPr lang="en-US" sz="1100" dirty="0"/>
          </a:p>
        </p:txBody>
      </p:sp>
      <p:sp>
        <p:nvSpPr>
          <p:cNvPr id="8" name="Shape 6"/>
          <p:cNvSpPr/>
          <p:nvPr/>
        </p:nvSpPr>
        <p:spPr>
          <a:xfrm>
            <a:off x="731520" y="1536192"/>
            <a:ext cx="347472" cy="347472"/>
          </a:xfrm>
          <a:prstGeom prst="ellipse">
            <a:avLst/>
          </a:prstGeom>
          <a:solidFill>
            <a:srgbClr val="3B82F6"/>
          </a:solidFill>
          <a:ln/>
        </p:spPr>
      </p:sp>
      <p:sp>
        <p:nvSpPr>
          <p:cNvPr id="9" name="Text 7"/>
          <p:cNvSpPr/>
          <p:nvPr/>
        </p:nvSpPr>
        <p:spPr>
          <a:xfrm>
            <a:off x="731520" y="153619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0" name="Text 8"/>
          <p:cNvSpPr/>
          <p:nvPr/>
        </p:nvSpPr>
        <p:spPr>
          <a:xfrm>
            <a:off x="1280160" y="1517904"/>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実演デモ</a:t>
            </a:r>
            <a:endParaRPr lang="en-US" sz="1300" dirty="0"/>
          </a:p>
        </p:txBody>
      </p:sp>
      <p:sp>
        <p:nvSpPr>
          <p:cNvPr id="11" name="Text 9"/>
          <p:cNvSpPr/>
          <p:nvPr/>
        </p:nvSpPr>
        <p:spPr>
          <a:xfrm>
            <a:off x="4114800" y="1517904"/>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実際に動く議事録生成ツールのデモンストレーション</a:t>
            </a:r>
            <a:endParaRPr lang="en-US" sz="1100" dirty="0"/>
          </a:p>
        </p:txBody>
      </p:sp>
      <p:sp>
        <p:nvSpPr>
          <p:cNvPr id="12" name="Shape 10"/>
          <p:cNvSpPr/>
          <p:nvPr/>
        </p:nvSpPr>
        <p:spPr>
          <a:xfrm>
            <a:off x="731520" y="2020824"/>
            <a:ext cx="347472" cy="347472"/>
          </a:xfrm>
          <a:prstGeom prst="ellipse">
            <a:avLst/>
          </a:prstGeom>
          <a:solidFill>
            <a:srgbClr val="1E2761"/>
          </a:solidFill>
          <a:ln/>
        </p:spPr>
      </p:sp>
      <p:sp>
        <p:nvSpPr>
          <p:cNvPr id="13" name="Text 11"/>
          <p:cNvSpPr/>
          <p:nvPr/>
        </p:nvSpPr>
        <p:spPr>
          <a:xfrm>
            <a:off x="731520" y="20208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1280160" y="2002536"/>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FMPJ様の課題と解決策</a:t>
            </a:r>
            <a:endParaRPr lang="en-US" sz="1300" dirty="0"/>
          </a:p>
        </p:txBody>
      </p:sp>
      <p:sp>
        <p:nvSpPr>
          <p:cNvPr id="15" name="Text 13"/>
          <p:cNvSpPr/>
          <p:nvPr/>
        </p:nvSpPr>
        <p:spPr>
          <a:xfrm>
            <a:off x="4114800" y="2002536"/>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属人化・セキュリティリスクの解消</a:t>
            </a:r>
            <a:endParaRPr lang="en-US" sz="1100" dirty="0"/>
          </a:p>
        </p:txBody>
      </p:sp>
      <p:sp>
        <p:nvSpPr>
          <p:cNvPr id="16" name="Shape 14"/>
          <p:cNvSpPr/>
          <p:nvPr/>
        </p:nvSpPr>
        <p:spPr>
          <a:xfrm>
            <a:off x="731520" y="2505456"/>
            <a:ext cx="347472" cy="347472"/>
          </a:xfrm>
          <a:prstGeom prst="ellipse">
            <a:avLst/>
          </a:prstGeom>
          <a:solidFill>
            <a:srgbClr val="1E2761"/>
          </a:solidFill>
          <a:ln/>
        </p:spPr>
      </p:sp>
      <p:sp>
        <p:nvSpPr>
          <p:cNvPr id="17" name="Text 15"/>
          <p:cNvSpPr/>
          <p:nvPr/>
        </p:nvSpPr>
        <p:spPr>
          <a:xfrm>
            <a:off x="731520" y="250545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8" name="Text 16"/>
          <p:cNvSpPr/>
          <p:nvPr/>
        </p:nvSpPr>
        <p:spPr>
          <a:xfrm>
            <a:off x="1280160" y="2487168"/>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専用ツールの仕組み</a:t>
            </a:r>
            <a:endParaRPr lang="en-US" sz="1300" dirty="0"/>
          </a:p>
        </p:txBody>
      </p:sp>
      <p:sp>
        <p:nvSpPr>
          <p:cNvPr id="19" name="Text 17"/>
          <p:cNvSpPr/>
          <p:nvPr/>
        </p:nvSpPr>
        <p:spPr>
          <a:xfrm>
            <a:off x="4114800" y="2487168"/>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UXフローと3つのメリット</a:t>
            </a:r>
            <a:endParaRPr lang="en-US" sz="1100" dirty="0"/>
          </a:p>
        </p:txBody>
      </p:sp>
      <p:sp>
        <p:nvSpPr>
          <p:cNvPr id="20" name="Shape 18"/>
          <p:cNvSpPr/>
          <p:nvPr/>
        </p:nvSpPr>
        <p:spPr>
          <a:xfrm>
            <a:off x="731520" y="2990088"/>
            <a:ext cx="347472" cy="347472"/>
          </a:xfrm>
          <a:prstGeom prst="ellipse">
            <a:avLst/>
          </a:prstGeom>
          <a:solidFill>
            <a:srgbClr val="1E2761"/>
          </a:solidFill>
          <a:ln/>
        </p:spPr>
      </p:sp>
      <p:sp>
        <p:nvSpPr>
          <p:cNvPr id="21" name="Text 19"/>
          <p:cNvSpPr/>
          <p:nvPr/>
        </p:nvSpPr>
        <p:spPr>
          <a:xfrm>
            <a:off x="731520" y="29900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2" name="Text 20"/>
          <p:cNvSpPr/>
          <p:nvPr/>
        </p:nvSpPr>
        <p:spPr>
          <a:xfrm>
            <a:off x="1280160" y="2971800"/>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比較：汎用AI vs 専用ツール</a:t>
            </a:r>
            <a:endParaRPr lang="en-US" sz="1300" dirty="0"/>
          </a:p>
        </p:txBody>
      </p:sp>
      <p:sp>
        <p:nvSpPr>
          <p:cNvPr id="23" name="Text 21"/>
          <p:cNvSpPr/>
          <p:nvPr/>
        </p:nvSpPr>
        <p:spPr>
          <a:xfrm>
            <a:off x="4114800" y="2971800"/>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セキュリティ・操作性・コストの多角比較</a:t>
            </a:r>
            <a:endParaRPr lang="en-US" sz="1100" dirty="0"/>
          </a:p>
        </p:txBody>
      </p:sp>
      <p:sp>
        <p:nvSpPr>
          <p:cNvPr id="24" name="Shape 22"/>
          <p:cNvSpPr/>
          <p:nvPr/>
        </p:nvSpPr>
        <p:spPr>
          <a:xfrm>
            <a:off x="731520" y="3474720"/>
            <a:ext cx="347472" cy="347472"/>
          </a:xfrm>
          <a:prstGeom prst="ellipse">
            <a:avLst/>
          </a:prstGeom>
          <a:solidFill>
            <a:srgbClr val="1E2761"/>
          </a:solidFill>
          <a:ln/>
        </p:spPr>
      </p:sp>
      <p:sp>
        <p:nvSpPr>
          <p:cNvPr id="25" name="Text 23"/>
          <p:cNvSpPr/>
          <p:nvPr/>
        </p:nvSpPr>
        <p:spPr>
          <a:xfrm>
            <a:off x="731520" y="347472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6" name="Text 24"/>
          <p:cNvSpPr/>
          <p:nvPr/>
        </p:nvSpPr>
        <p:spPr>
          <a:xfrm>
            <a:off x="1280160" y="3456432"/>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費用・ロードマップ</a:t>
            </a:r>
            <a:endParaRPr lang="en-US" sz="1300" dirty="0"/>
          </a:p>
        </p:txBody>
      </p:sp>
      <p:sp>
        <p:nvSpPr>
          <p:cNvPr id="27" name="Text 25"/>
          <p:cNvSpPr/>
          <p:nvPr/>
        </p:nvSpPr>
        <p:spPr>
          <a:xfrm>
            <a:off x="4114800" y="3456432"/>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2ヶ月開発 + 本番運用の段階的導入</a:t>
            </a:r>
            <a:endParaRPr lang="en-US" sz="1100" dirty="0"/>
          </a:p>
        </p:txBody>
      </p:sp>
      <p:sp>
        <p:nvSpPr>
          <p:cNvPr id="28" name="Shape 26"/>
          <p:cNvSpPr/>
          <p:nvPr/>
        </p:nvSpPr>
        <p:spPr>
          <a:xfrm>
            <a:off x="731520" y="3959352"/>
            <a:ext cx="347472" cy="347472"/>
          </a:xfrm>
          <a:prstGeom prst="ellipse">
            <a:avLst/>
          </a:prstGeom>
          <a:solidFill>
            <a:srgbClr val="1E2761"/>
          </a:solidFill>
          <a:ln/>
        </p:spPr>
      </p:sp>
      <p:sp>
        <p:nvSpPr>
          <p:cNvPr id="29" name="Text 27"/>
          <p:cNvSpPr/>
          <p:nvPr/>
        </p:nvSpPr>
        <p:spPr>
          <a:xfrm>
            <a:off x="731520" y="395935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0" name="Text 28"/>
          <p:cNvSpPr/>
          <p:nvPr/>
        </p:nvSpPr>
        <p:spPr>
          <a:xfrm>
            <a:off x="1280160" y="3941064"/>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初期導入機器のご案内</a:t>
            </a:r>
            <a:endParaRPr lang="en-US" sz="1300" dirty="0"/>
          </a:p>
        </p:txBody>
      </p:sp>
      <p:sp>
        <p:nvSpPr>
          <p:cNvPr id="31" name="Text 29"/>
          <p:cNvSpPr/>
          <p:nvPr/>
        </p:nvSpPr>
        <p:spPr>
          <a:xfrm>
            <a:off x="4114800" y="3941064"/>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PLAUD AI ボイスレコーダーについて</a:t>
            </a:r>
            <a:endParaRPr lang="en-US" sz="1100" dirty="0"/>
          </a:p>
        </p:txBody>
      </p:sp>
      <p:sp>
        <p:nvSpPr>
          <p:cNvPr id="32" name="Shape 30"/>
          <p:cNvSpPr/>
          <p:nvPr/>
        </p:nvSpPr>
        <p:spPr>
          <a:xfrm>
            <a:off x="731520" y="4443984"/>
            <a:ext cx="347472" cy="347472"/>
          </a:xfrm>
          <a:prstGeom prst="ellipse">
            <a:avLst/>
          </a:prstGeom>
          <a:solidFill>
            <a:srgbClr val="1E2761"/>
          </a:solidFill>
          <a:ln/>
        </p:spPr>
      </p:sp>
      <p:sp>
        <p:nvSpPr>
          <p:cNvPr id="33" name="Text 31"/>
          <p:cNvSpPr/>
          <p:nvPr/>
        </p:nvSpPr>
        <p:spPr>
          <a:xfrm>
            <a:off x="731520" y="444398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34" name="Text 32"/>
          <p:cNvSpPr/>
          <p:nvPr/>
        </p:nvSpPr>
        <p:spPr>
          <a:xfrm>
            <a:off x="1280160" y="4425696"/>
            <a:ext cx="2743200" cy="347472"/>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Next Step</a:t>
            </a:r>
            <a:endParaRPr lang="en-US" sz="1300" dirty="0"/>
          </a:p>
        </p:txBody>
      </p:sp>
      <p:sp>
        <p:nvSpPr>
          <p:cNvPr id="35" name="Text 33"/>
          <p:cNvSpPr/>
          <p:nvPr/>
        </p:nvSpPr>
        <p:spPr>
          <a:xfrm>
            <a:off x="4114800" y="4425696"/>
            <a:ext cx="4389120" cy="347472"/>
          </a:xfrm>
          <a:prstGeom prst="rect">
            <a:avLst/>
          </a:prstGeom>
          <a:noFill/>
          <a:ln/>
        </p:spPr>
        <p:txBody>
          <a:bodyPr wrap="square" lIns="0" tIns="0" rIns="0" bIns="0" rtlCol="0" anchor="ctr"/>
          <a:lstStyle/>
          <a:p>
            <a:pPr marL="0" indent="0">
              <a:buNone/>
            </a:pPr>
            <a:r>
              <a:rPr lang="en-US" sz="1100" dirty="0">
                <a:solidFill>
                  <a:srgbClr val="3D4663"/>
                </a:solidFill>
                <a:latin typeface="Calibri" pitchFamily="34" charset="0"/>
                <a:ea typeface="Calibri" pitchFamily="34" charset="-122"/>
                <a:cs typeface="Calibri" pitchFamily="34" charset="-120"/>
              </a:rPr>
              <a:t>本日のまとめとご検討事項</a:t>
            </a:r>
            <a:endParaRPr lang="en-US" sz="1100" dirty="0"/>
          </a:p>
        </p:txBody>
      </p:sp>
      <p:sp>
        <p:nvSpPr>
          <p:cNvPr id="36" name="Text 34"/>
          <p:cNvSpPr/>
          <p:nvPr/>
        </p:nvSpPr>
        <p:spPr>
          <a:xfrm>
            <a:off x="731520" y="4663440"/>
            <a:ext cx="7680960" cy="274320"/>
          </a:xfrm>
          <a:prstGeom prst="rect">
            <a:avLst/>
          </a:prstGeom>
          <a:noFill/>
          <a:ln/>
        </p:spPr>
        <p:txBody>
          <a:bodyPr wrap="square" lIns="0" tIns="0" rIns="0" bIns="0" rtlCol="0" anchor="ctr"/>
          <a:lstStyle/>
          <a:p>
            <a:pPr marL="0" indent="0">
              <a:buNone/>
            </a:pPr>
            <a:r>
              <a:rPr lang="en-US" sz="1000" dirty="0">
                <a:solidFill>
                  <a:srgbClr val="8896AB"/>
                </a:solidFill>
                <a:latin typeface="Calibri" pitchFamily="34" charset="0"/>
                <a:ea typeface="Calibri" pitchFamily="34" charset="-122"/>
                <a:cs typeface="Calibri" pitchFamily="34" charset="-120"/>
              </a:rPr>
              <a:t>Appendix：導入に関するQ&amp;A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A1F36"/>
                </a:solidFill>
                <a:latin typeface="Calibri" pitchFamily="34" charset="0"/>
                <a:ea typeface="Calibri" pitchFamily="34" charset="-122"/>
                <a:cs typeface="Calibri" pitchFamily="34" charset="-120"/>
              </a:rPr>
              <a:t>宿題の確認と結論</a:t>
            </a:r>
            <a:endParaRPr lang="en-US" sz="2800" dirty="0"/>
          </a:p>
        </p:txBody>
      </p:sp>
      <p:sp>
        <p:nvSpPr>
          <p:cNvPr id="4" name="Shape 2"/>
          <p:cNvSpPr/>
          <p:nvPr/>
        </p:nvSpPr>
        <p:spPr>
          <a:xfrm>
            <a:off x="731520" y="1097280"/>
            <a:ext cx="7680960" cy="1005840"/>
          </a:xfrm>
          <a:prstGeom prst="rect">
            <a:avLst/>
          </a:prstGeom>
          <a:solidFill>
            <a:srgbClr val="F5F7FA"/>
          </a:solidFill>
          <a:ln/>
          <a:effectLst>
            <a:outerShdw blurRad="76200" dist="25400" dir="8100000" algn="bl" rotWithShape="0">
              <a:srgbClr val="000000">
                <a:alpha val="10000"/>
              </a:srgbClr>
            </a:outerShdw>
          </a:effectLst>
        </p:spPr>
      </p:sp>
      <p:sp>
        <p:nvSpPr>
          <p:cNvPr id="5" name="Shape 3"/>
          <p:cNvSpPr/>
          <p:nvPr/>
        </p:nvSpPr>
        <p:spPr>
          <a:xfrm>
            <a:off x="731520" y="1097280"/>
            <a:ext cx="64008" cy="1005840"/>
          </a:xfrm>
          <a:prstGeom prst="rect">
            <a:avLst/>
          </a:prstGeom>
          <a:solidFill>
            <a:srgbClr val="8896AB"/>
          </a:solidFill>
          <a:ln/>
        </p:spPr>
      </p:sp>
      <p:sp>
        <p:nvSpPr>
          <p:cNvPr id="6" name="Text 4"/>
          <p:cNvSpPr/>
          <p:nvPr/>
        </p:nvSpPr>
        <p:spPr>
          <a:xfrm>
            <a:off x="1051560" y="1143000"/>
            <a:ext cx="7132320" cy="320040"/>
          </a:xfrm>
          <a:prstGeom prst="rect">
            <a:avLst/>
          </a:prstGeom>
          <a:noFill/>
          <a:ln/>
        </p:spPr>
        <p:txBody>
          <a:bodyPr wrap="square" lIns="0" tIns="0" rIns="0" bIns="0" rtlCol="0" anchor="ctr"/>
          <a:lstStyle/>
          <a:p>
            <a:pPr marL="0" indent="0">
              <a:buNone/>
            </a:pPr>
            <a:r>
              <a:rPr lang="en-US" sz="1100" b="1" dirty="0">
                <a:solidFill>
                  <a:srgbClr val="8896AB"/>
                </a:solidFill>
                <a:latin typeface="Calibri" pitchFamily="34" charset="0"/>
                <a:ea typeface="Calibri" pitchFamily="34" charset="-122"/>
                <a:cs typeface="Calibri" pitchFamily="34" charset="-120"/>
              </a:rPr>
              <a:t>板垣事務局長からの宿題</a:t>
            </a:r>
            <a:endParaRPr lang="en-US" sz="1100" dirty="0"/>
          </a:p>
        </p:txBody>
      </p:sp>
      <p:sp>
        <p:nvSpPr>
          <p:cNvPr id="7" name="Text 5"/>
          <p:cNvSpPr/>
          <p:nvPr/>
        </p:nvSpPr>
        <p:spPr>
          <a:xfrm>
            <a:off x="1051560" y="1463040"/>
            <a:ext cx="7132320" cy="502920"/>
          </a:xfrm>
          <a:prstGeom prst="rect">
            <a:avLst/>
          </a:prstGeom>
          <a:noFill/>
          <a:ln/>
        </p:spPr>
        <p:txBody>
          <a:bodyPr wrap="square" lIns="0" tIns="0" rIns="0" bIns="0" rtlCol="0" anchor="ctr"/>
          <a:lstStyle/>
          <a:p>
            <a:pPr marL="0" indent="0">
              <a:buNone/>
            </a:pPr>
            <a:r>
              <a:rPr lang="en-US" sz="1300" i="1" dirty="0">
                <a:solidFill>
                  <a:srgbClr val="1A1F36"/>
                </a:solidFill>
                <a:latin typeface="Calibri" pitchFamily="34" charset="0"/>
                <a:ea typeface="Calibri" pitchFamily="34" charset="-122"/>
                <a:cs typeface="Calibri" pitchFamily="34" charset="-120"/>
              </a:rPr>
              <a:t>「AIを活用することで業務（議事録作成、資料作成など）が何がどの程度楽になるのか、網羅的に紹介してほしい」</a:t>
            </a:r>
            <a:endParaRPr lang="en-US" sz="1300" dirty="0"/>
          </a:p>
        </p:txBody>
      </p:sp>
      <p:pic>
        <p:nvPicPr>
          <p:cNvPr id="8" name="Image 0" descr="preencoded.png"/>
          <p:cNvPicPr>
            <a:picLocks noChangeAspect="1"/>
          </p:cNvPicPr>
          <p:nvPr/>
        </p:nvPicPr>
        <p:blipFill>
          <a:blip r:embed="rId3"/>
          <a:stretch>
            <a:fillRect/>
          </a:stretch>
        </p:blipFill>
        <p:spPr>
          <a:xfrm>
            <a:off x="4297680" y="2331720"/>
            <a:ext cx="320040" cy="320040"/>
          </a:xfrm>
          <a:prstGeom prst="rect">
            <a:avLst/>
          </a:prstGeom>
        </p:spPr>
      </p:pic>
      <p:sp>
        <p:nvSpPr>
          <p:cNvPr id="9" name="Shape 6"/>
          <p:cNvSpPr/>
          <p:nvPr/>
        </p:nvSpPr>
        <p:spPr>
          <a:xfrm>
            <a:off x="731520" y="2834640"/>
            <a:ext cx="7680960" cy="1645920"/>
          </a:xfrm>
          <a:prstGeom prst="rect">
            <a:avLst/>
          </a:prstGeom>
          <a:solidFill>
            <a:srgbClr val="EFF6FF"/>
          </a:solidFill>
          <a:ln/>
          <a:effectLst>
            <a:outerShdw blurRad="76200" dist="25400" dir="8100000" algn="bl" rotWithShape="0">
              <a:srgbClr val="000000">
                <a:alpha val="10000"/>
              </a:srgbClr>
            </a:outerShdw>
          </a:effectLst>
        </p:spPr>
      </p:sp>
      <p:sp>
        <p:nvSpPr>
          <p:cNvPr id="10" name="Shape 7"/>
          <p:cNvSpPr/>
          <p:nvPr/>
        </p:nvSpPr>
        <p:spPr>
          <a:xfrm>
            <a:off x="731520" y="2834640"/>
            <a:ext cx="64008" cy="1645920"/>
          </a:xfrm>
          <a:prstGeom prst="rect">
            <a:avLst/>
          </a:prstGeom>
          <a:solidFill>
            <a:srgbClr val="3B82F6"/>
          </a:solidFill>
          <a:ln/>
        </p:spPr>
      </p:sp>
      <p:sp>
        <p:nvSpPr>
          <p:cNvPr id="11" name="Text 8"/>
          <p:cNvSpPr/>
          <p:nvPr/>
        </p:nvSpPr>
        <p:spPr>
          <a:xfrm>
            <a:off x="1051560" y="2880360"/>
            <a:ext cx="7132320" cy="320040"/>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本日の結論</a:t>
            </a:r>
            <a:endParaRPr lang="en-US" sz="1100" dirty="0"/>
          </a:p>
        </p:txBody>
      </p:sp>
      <p:sp>
        <p:nvSpPr>
          <p:cNvPr id="12" name="Text 9"/>
          <p:cNvSpPr/>
          <p:nvPr/>
        </p:nvSpPr>
        <p:spPr>
          <a:xfrm>
            <a:off x="1051560" y="3200400"/>
            <a:ext cx="7132320" cy="1097280"/>
          </a:xfrm>
          <a:prstGeom prst="rect">
            <a:avLst/>
          </a:prstGeom>
          <a:noFill/>
          <a:ln/>
        </p:spPr>
        <p:txBody>
          <a:bodyPr wrap="square" lIns="0" tIns="0" rIns="0" bIns="0" rtlCol="0" anchor="ctr"/>
          <a:lstStyle/>
          <a:p>
            <a:pPr marL="0" indent="0">
              <a:lnSpc>
                <a:spcPct val="160000"/>
              </a:lnSpc>
              <a:buNone/>
            </a:pPr>
            <a:r>
              <a:rPr lang="en-US" sz="1500" b="1" dirty="0">
                <a:solidFill>
                  <a:srgbClr val="1A1F36"/>
                </a:solidFill>
                <a:latin typeface="Calibri" pitchFamily="34" charset="0"/>
                <a:ea typeface="Calibri" pitchFamily="34" charset="-122"/>
                <a:cs typeface="Calibri" pitchFamily="34" charset="-120"/>
              </a:rPr>
              <a:t>汎用AIの「使い方紹介」に留まらず、</a:t>
            </a:r>
            <a:endParaRPr lang="en-US" sz="1500" dirty="0"/>
          </a:p>
          <a:p>
            <a:pPr marL="0" indent="0">
              <a:lnSpc>
                <a:spcPct val="160000"/>
              </a:lnSpc>
              <a:buNone/>
            </a:pPr>
            <a:r>
              <a:rPr lang="en-US" sz="1500" b="1" dirty="0">
                <a:solidFill>
                  <a:srgbClr val="1A1F36"/>
                </a:solidFill>
                <a:latin typeface="Calibri" pitchFamily="34" charset="0"/>
                <a:ea typeface="Calibri" pitchFamily="34" charset="-122"/>
                <a:cs typeface="Calibri" pitchFamily="34" charset="-120"/>
              </a:rPr>
              <a:t>FMPJ専用の議事録自動生成ツールを開発・納品することで、</a:t>
            </a:r>
            <a:endParaRPr lang="en-US" sz="1500" dirty="0"/>
          </a:p>
          <a:p>
            <a:pPr marL="0" indent="0">
              <a:lnSpc>
                <a:spcPct val="160000"/>
              </a:lnSpc>
              <a:buNone/>
            </a:pPr>
            <a:r>
              <a:rPr lang="en-US" sz="1500" b="1" dirty="0">
                <a:solidFill>
                  <a:srgbClr val="1A1F36"/>
                </a:solidFill>
                <a:latin typeface="Calibri" pitchFamily="34" charset="0"/>
                <a:ea typeface="Calibri" pitchFamily="34" charset="-122"/>
                <a:cs typeface="Calibri" pitchFamily="34" charset="-120"/>
              </a:rPr>
              <a:t>最も確実かつ安全に業務を変革します。</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457200"/>
            <a:ext cx="7315200" cy="640080"/>
          </a:xfrm>
          <a:prstGeom prst="rect">
            <a:avLst/>
          </a:prstGeom>
          <a:noFill/>
          <a:ln/>
        </p:spPr>
        <p:txBody>
          <a:bodyPr wrap="square" lIns="0" tIns="0" rIns="0" bIns="0" rtlCol="0" anchor="ctr"/>
          <a:lstStyle/>
          <a:p>
            <a:pPr marL="0" indent="0">
              <a:buNone/>
            </a:pPr>
            <a:r>
              <a:rPr lang="en-US" sz="3600" b="1" kern="0" spc="400" dirty="0">
                <a:solidFill>
                  <a:srgbClr val="FFFFFF"/>
                </a:solidFill>
                <a:latin typeface="Calibri" pitchFamily="34" charset="0"/>
                <a:ea typeface="Calibri" pitchFamily="34" charset="-122"/>
                <a:cs typeface="Calibri" pitchFamily="34" charset="-120"/>
              </a:rPr>
              <a:t>LIVE DEMO</a:t>
            </a:r>
            <a:endParaRPr lang="en-US" sz="3600" dirty="0"/>
          </a:p>
        </p:txBody>
      </p:sp>
      <p:sp>
        <p:nvSpPr>
          <p:cNvPr id="4" name="Text 2"/>
          <p:cNvSpPr/>
          <p:nvPr/>
        </p:nvSpPr>
        <p:spPr>
          <a:xfrm>
            <a:off x="731520" y="1051560"/>
            <a:ext cx="73152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実際に動く議事録自動生成ツールのデモンストレーション</a:t>
            </a:r>
            <a:endParaRPr lang="en-US" sz="1400" dirty="0"/>
          </a:p>
        </p:txBody>
      </p:sp>
      <p:sp>
        <p:nvSpPr>
          <p:cNvPr id="5" name="Shape 3"/>
          <p:cNvSpPr/>
          <p:nvPr/>
        </p:nvSpPr>
        <p:spPr>
          <a:xfrm>
            <a:off x="731520" y="1828800"/>
            <a:ext cx="2468880" cy="2560320"/>
          </a:xfrm>
          <a:prstGeom prst="rect">
            <a:avLst/>
          </a:prstGeom>
          <a:solidFill>
            <a:srgbClr val="141C3D"/>
          </a:solidFill>
          <a:ln/>
          <a:effectLst>
            <a:outerShdw blurRad="76200" dist="25400" dir="8100000" algn="bl" rotWithShape="0">
              <a:srgbClr val="000000">
                <a:alpha val="10000"/>
              </a:srgbClr>
            </a:outerShdw>
          </a:effectLst>
        </p:spPr>
      </p:sp>
      <p:sp>
        <p:nvSpPr>
          <p:cNvPr id="6" name="Shape 4"/>
          <p:cNvSpPr/>
          <p:nvPr/>
        </p:nvSpPr>
        <p:spPr>
          <a:xfrm>
            <a:off x="731520" y="1828800"/>
            <a:ext cx="2468880" cy="45720"/>
          </a:xfrm>
          <a:prstGeom prst="rect">
            <a:avLst/>
          </a:prstGeom>
          <a:solidFill>
            <a:srgbClr val="3B82F6"/>
          </a:solidFill>
          <a:ln/>
        </p:spPr>
      </p:sp>
      <p:sp>
        <p:nvSpPr>
          <p:cNvPr id="7" name="Text 5"/>
          <p:cNvSpPr/>
          <p:nvPr/>
        </p:nvSpPr>
        <p:spPr>
          <a:xfrm>
            <a:off x="960120" y="2011680"/>
            <a:ext cx="2011680" cy="320040"/>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STEP 1</a:t>
            </a:r>
            <a:endParaRPr lang="en-US" sz="1100" dirty="0"/>
          </a:p>
        </p:txBody>
      </p:sp>
      <p:sp>
        <p:nvSpPr>
          <p:cNvPr id="8" name="Text 6"/>
          <p:cNvSpPr/>
          <p:nvPr/>
        </p:nvSpPr>
        <p:spPr>
          <a:xfrm>
            <a:off x="960120" y="2377440"/>
            <a:ext cx="2011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文字起こしデータ投入</a:t>
            </a:r>
            <a:endParaRPr lang="en-US" sz="1400" dirty="0"/>
          </a:p>
        </p:txBody>
      </p:sp>
      <p:sp>
        <p:nvSpPr>
          <p:cNvPr id="9" name="Text 7"/>
          <p:cNvSpPr/>
          <p:nvPr/>
        </p:nvSpPr>
        <p:spPr>
          <a:xfrm>
            <a:off x="960120" y="2926080"/>
            <a:ext cx="2011680" cy="914400"/>
          </a:xfrm>
          <a:prstGeom prst="rect">
            <a:avLst/>
          </a:prstGeom>
          <a:noFill/>
          <a:ln/>
        </p:spPr>
        <p:txBody>
          <a:bodyPr wrap="square" lIns="0" tIns="0" rIns="0" bIns="0" rtlCol="0" anchor="ctr"/>
          <a:lstStyle/>
          <a:p>
            <a:pPr marL="0" indent="0">
              <a:lnSpc>
                <a:spcPct val="150000"/>
              </a:lnSpc>
              <a:buNone/>
            </a:pPr>
            <a:r>
              <a:rPr lang="en-US" sz="1100" dirty="0">
                <a:solidFill>
                  <a:srgbClr val="CADCFC"/>
                </a:solidFill>
                <a:latin typeface="Calibri" pitchFamily="34" charset="0"/>
                <a:ea typeface="Calibri" pitchFamily="34" charset="-122"/>
                <a:cs typeface="Calibri" pitchFamily="34" charset="-120"/>
              </a:rPr>
              <a:t>PLAUD等で取得した会議録音の</a:t>
            </a:r>
            <a:endParaRPr lang="en-US" sz="1100" dirty="0"/>
          </a:p>
          <a:p>
            <a:pPr marL="0" indent="0">
              <a:lnSpc>
                <a:spcPct val="150000"/>
              </a:lnSpc>
              <a:buNone/>
            </a:pPr>
            <a:r>
              <a:rPr lang="en-US" sz="1100" dirty="0">
                <a:solidFill>
                  <a:srgbClr val="CADCFC"/>
                </a:solidFill>
                <a:latin typeface="Calibri" pitchFamily="34" charset="0"/>
                <a:ea typeface="Calibri" pitchFamily="34" charset="-122"/>
                <a:cs typeface="Calibri" pitchFamily="34" charset="-120"/>
              </a:rPr>
              <a:t>テキストデータをツールに貼り付け</a:t>
            </a:r>
            <a:endParaRPr lang="en-US" sz="1100" dirty="0"/>
          </a:p>
        </p:txBody>
      </p:sp>
      <p:pic>
        <p:nvPicPr>
          <p:cNvPr id="10" name="Image 0" descr="preencoded.png"/>
          <p:cNvPicPr>
            <a:picLocks noChangeAspect="1"/>
          </p:cNvPicPr>
          <p:nvPr/>
        </p:nvPicPr>
        <p:blipFill>
          <a:blip r:embed="rId3"/>
          <a:stretch>
            <a:fillRect/>
          </a:stretch>
        </p:blipFill>
        <p:spPr>
          <a:xfrm>
            <a:off x="3291840" y="2880360"/>
            <a:ext cx="228600" cy="228600"/>
          </a:xfrm>
          <a:prstGeom prst="rect">
            <a:avLst/>
          </a:prstGeom>
        </p:spPr>
      </p:pic>
      <p:sp>
        <p:nvSpPr>
          <p:cNvPr id="11" name="Shape 8"/>
          <p:cNvSpPr/>
          <p:nvPr/>
        </p:nvSpPr>
        <p:spPr>
          <a:xfrm>
            <a:off x="3566160" y="1828800"/>
            <a:ext cx="2468880" cy="2560320"/>
          </a:xfrm>
          <a:prstGeom prst="rect">
            <a:avLst/>
          </a:prstGeom>
          <a:solidFill>
            <a:srgbClr val="141C3D"/>
          </a:solidFill>
          <a:ln/>
          <a:effectLst>
            <a:outerShdw blurRad="76200" dist="25400" dir="8100000" algn="bl" rotWithShape="0">
              <a:srgbClr val="000000">
                <a:alpha val="10000"/>
              </a:srgbClr>
            </a:outerShdw>
          </a:effectLst>
        </p:spPr>
      </p:sp>
      <p:sp>
        <p:nvSpPr>
          <p:cNvPr id="12" name="Shape 9"/>
          <p:cNvSpPr/>
          <p:nvPr/>
        </p:nvSpPr>
        <p:spPr>
          <a:xfrm>
            <a:off x="3566160" y="1828800"/>
            <a:ext cx="2468880" cy="45720"/>
          </a:xfrm>
          <a:prstGeom prst="rect">
            <a:avLst/>
          </a:prstGeom>
          <a:solidFill>
            <a:srgbClr val="3B82F6"/>
          </a:solidFill>
          <a:ln/>
        </p:spPr>
      </p:sp>
      <p:sp>
        <p:nvSpPr>
          <p:cNvPr id="13" name="Text 10"/>
          <p:cNvSpPr/>
          <p:nvPr/>
        </p:nvSpPr>
        <p:spPr>
          <a:xfrm>
            <a:off x="3794760" y="2011680"/>
            <a:ext cx="2011680" cy="320040"/>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STEP 2</a:t>
            </a:r>
            <a:endParaRPr lang="en-US" sz="1100" dirty="0"/>
          </a:p>
        </p:txBody>
      </p:sp>
      <p:sp>
        <p:nvSpPr>
          <p:cNvPr id="14" name="Text 11"/>
          <p:cNvSpPr/>
          <p:nvPr/>
        </p:nvSpPr>
        <p:spPr>
          <a:xfrm>
            <a:off x="3794760" y="2377440"/>
            <a:ext cx="2011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対話的な話者特定</a:t>
            </a:r>
            <a:endParaRPr lang="en-US" sz="1400" dirty="0"/>
          </a:p>
        </p:txBody>
      </p:sp>
      <p:sp>
        <p:nvSpPr>
          <p:cNvPr id="15" name="Text 12"/>
          <p:cNvSpPr/>
          <p:nvPr/>
        </p:nvSpPr>
        <p:spPr>
          <a:xfrm>
            <a:off x="3794760" y="2926080"/>
            <a:ext cx="2011680" cy="914400"/>
          </a:xfrm>
          <a:prstGeom prst="rect">
            <a:avLst/>
          </a:prstGeom>
          <a:noFill/>
          <a:ln/>
        </p:spPr>
        <p:txBody>
          <a:bodyPr wrap="square" lIns="0" tIns="0" rIns="0" bIns="0" rtlCol="0" anchor="ctr"/>
          <a:lstStyle/>
          <a:p>
            <a:pPr marL="0" indent="0">
              <a:lnSpc>
                <a:spcPct val="150000"/>
              </a:lnSpc>
              <a:buNone/>
            </a:pPr>
            <a:r>
              <a:rPr lang="en-US" sz="1100" dirty="0">
                <a:solidFill>
                  <a:srgbClr val="CADCFC"/>
                </a:solidFill>
                <a:latin typeface="Calibri" pitchFamily="34" charset="0"/>
                <a:ea typeface="Calibri" pitchFamily="34" charset="-122"/>
                <a:cs typeface="Calibri" pitchFamily="34" charset="-120"/>
              </a:rPr>
              <a:t>ツールが「Speaker 1は誰？」と</a:t>
            </a:r>
            <a:endParaRPr lang="en-US" sz="1100" dirty="0"/>
          </a:p>
          <a:p>
            <a:pPr marL="0" indent="0">
              <a:lnSpc>
                <a:spcPct val="150000"/>
              </a:lnSpc>
              <a:buNone/>
            </a:pPr>
            <a:r>
              <a:rPr lang="en-US" sz="1100" dirty="0">
                <a:solidFill>
                  <a:srgbClr val="CADCFC"/>
                </a:solidFill>
                <a:latin typeface="Calibri" pitchFamily="34" charset="0"/>
                <a:ea typeface="Calibri" pitchFamily="34" charset="-122"/>
                <a:cs typeface="Calibri" pitchFamily="34" charset="-120"/>
              </a:rPr>
              <a:t>質問 → スタッフが選択するだけ</a:t>
            </a:r>
            <a:endParaRPr lang="en-US" sz="1100" dirty="0"/>
          </a:p>
        </p:txBody>
      </p:sp>
      <p:pic>
        <p:nvPicPr>
          <p:cNvPr id="16" name="Image 1" descr="preencoded.png"/>
          <p:cNvPicPr>
            <a:picLocks noChangeAspect="1"/>
          </p:cNvPicPr>
          <p:nvPr/>
        </p:nvPicPr>
        <p:blipFill>
          <a:blip r:embed="rId3"/>
          <a:stretch>
            <a:fillRect/>
          </a:stretch>
        </p:blipFill>
        <p:spPr>
          <a:xfrm>
            <a:off x="6126480" y="2880360"/>
            <a:ext cx="228600" cy="228600"/>
          </a:xfrm>
          <a:prstGeom prst="rect">
            <a:avLst/>
          </a:prstGeom>
        </p:spPr>
      </p:pic>
      <p:sp>
        <p:nvSpPr>
          <p:cNvPr id="17" name="Shape 13"/>
          <p:cNvSpPr/>
          <p:nvPr/>
        </p:nvSpPr>
        <p:spPr>
          <a:xfrm>
            <a:off x="6400800" y="1828800"/>
            <a:ext cx="2468880" cy="2560320"/>
          </a:xfrm>
          <a:prstGeom prst="rect">
            <a:avLst/>
          </a:prstGeom>
          <a:solidFill>
            <a:srgbClr val="141C3D"/>
          </a:solidFill>
          <a:ln/>
          <a:effectLst>
            <a:outerShdw blurRad="76200" dist="25400" dir="8100000" algn="bl" rotWithShape="0">
              <a:srgbClr val="000000">
                <a:alpha val="10000"/>
              </a:srgbClr>
            </a:outerShdw>
          </a:effectLst>
        </p:spPr>
      </p:sp>
      <p:sp>
        <p:nvSpPr>
          <p:cNvPr id="18" name="Shape 14"/>
          <p:cNvSpPr/>
          <p:nvPr/>
        </p:nvSpPr>
        <p:spPr>
          <a:xfrm>
            <a:off x="6400800" y="1828800"/>
            <a:ext cx="2468880" cy="45720"/>
          </a:xfrm>
          <a:prstGeom prst="rect">
            <a:avLst/>
          </a:prstGeom>
          <a:solidFill>
            <a:srgbClr val="3B82F6"/>
          </a:solidFill>
          <a:ln/>
        </p:spPr>
      </p:sp>
      <p:sp>
        <p:nvSpPr>
          <p:cNvPr id="19" name="Text 15"/>
          <p:cNvSpPr/>
          <p:nvPr/>
        </p:nvSpPr>
        <p:spPr>
          <a:xfrm>
            <a:off x="6629400" y="2011680"/>
            <a:ext cx="2011680" cy="320040"/>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STEP 3</a:t>
            </a:r>
            <a:endParaRPr lang="en-US" sz="1100" dirty="0"/>
          </a:p>
        </p:txBody>
      </p:sp>
      <p:sp>
        <p:nvSpPr>
          <p:cNvPr id="20" name="Text 16"/>
          <p:cNvSpPr/>
          <p:nvPr/>
        </p:nvSpPr>
        <p:spPr>
          <a:xfrm>
            <a:off x="6629400" y="2377440"/>
            <a:ext cx="2011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議事録＋ToDo自動生成</a:t>
            </a:r>
            <a:endParaRPr lang="en-US" sz="1400" dirty="0"/>
          </a:p>
        </p:txBody>
      </p:sp>
      <p:sp>
        <p:nvSpPr>
          <p:cNvPr id="21" name="Text 17"/>
          <p:cNvSpPr/>
          <p:nvPr/>
        </p:nvSpPr>
        <p:spPr>
          <a:xfrm>
            <a:off x="6629400" y="2926080"/>
            <a:ext cx="2011680" cy="914400"/>
          </a:xfrm>
          <a:prstGeom prst="rect">
            <a:avLst/>
          </a:prstGeom>
          <a:noFill/>
          <a:ln/>
        </p:spPr>
        <p:txBody>
          <a:bodyPr wrap="square" lIns="0" tIns="0" rIns="0" bIns="0" rtlCol="0" anchor="ctr"/>
          <a:lstStyle/>
          <a:p>
            <a:pPr marL="0" indent="0">
              <a:lnSpc>
                <a:spcPct val="150000"/>
              </a:lnSpc>
              <a:buNone/>
            </a:pPr>
            <a:r>
              <a:rPr lang="en-US" sz="1100" dirty="0">
                <a:solidFill>
                  <a:srgbClr val="CADCFC"/>
                </a:solidFill>
                <a:latin typeface="Calibri" pitchFamily="34" charset="0"/>
                <a:ea typeface="Calibri" pitchFamily="34" charset="-122"/>
                <a:cs typeface="Calibri" pitchFamily="34" charset="-120"/>
              </a:rPr>
              <a:t>FMPJフォーマットに完全準拠した</a:t>
            </a:r>
            <a:endParaRPr lang="en-US" sz="1100" dirty="0"/>
          </a:p>
          <a:p>
            <a:pPr marL="0" indent="0">
              <a:lnSpc>
                <a:spcPct val="150000"/>
              </a:lnSpc>
              <a:buNone/>
            </a:pPr>
            <a:r>
              <a:rPr lang="en-US" sz="1100" dirty="0">
                <a:solidFill>
                  <a:srgbClr val="CADCFC"/>
                </a:solidFill>
                <a:latin typeface="Calibri" pitchFamily="34" charset="0"/>
                <a:ea typeface="Calibri" pitchFamily="34" charset="-122"/>
                <a:cs typeface="Calibri" pitchFamily="34" charset="-120"/>
              </a:rPr>
              <a:t>正式議事録が即座に出力</a:t>
            </a:r>
            <a:endParaRPr lang="en-US" sz="1100" dirty="0"/>
          </a:p>
        </p:txBody>
      </p:sp>
      <p:sp>
        <p:nvSpPr>
          <p:cNvPr id="22" name="Text 18"/>
          <p:cNvSpPr/>
          <p:nvPr/>
        </p:nvSpPr>
        <p:spPr>
          <a:xfrm>
            <a:off x="731520" y="4617720"/>
            <a:ext cx="7315200" cy="274320"/>
          </a:xfrm>
          <a:prstGeom prst="rect">
            <a:avLst/>
          </a:prstGeom>
          <a:noFill/>
          <a:ln/>
        </p:spPr>
        <p:txBody>
          <a:bodyPr wrap="square" lIns="0" tIns="0" rIns="0" bIns="0" rtlCol="0" anchor="ctr"/>
          <a:lstStyle/>
          <a:p>
            <a:pPr marL="0" indent="0">
              <a:buNone/>
            </a:pPr>
            <a:r>
              <a:rPr lang="en-US" sz="1100" i="1" dirty="0">
                <a:solidFill>
                  <a:srgbClr val="8896AB"/>
                </a:solidFill>
                <a:latin typeface="Calibri" pitchFamily="34" charset="0"/>
                <a:ea typeface="Calibri" pitchFamily="34" charset="-122"/>
                <a:cs typeface="Calibri" pitchFamily="34" charset="-120"/>
              </a:rPr>
              <a:t>※ この場で実際のツールを操作してお見せします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A1F36"/>
                </a:solidFill>
                <a:latin typeface="Calibri" pitchFamily="34" charset="0"/>
                <a:ea typeface="Calibri" pitchFamily="34" charset="-122"/>
                <a:cs typeface="Calibri" pitchFamily="34" charset="-120"/>
              </a:rPr>
              <a:t>FMPJ様の課題と解決策</a:t>
            </a:r>
            <a:endParaRPr lang="en-US" sz="2800" dirty="0"/>
          </a:p>
        </p:txBody>
      </p:sp>
      <p:sp>
        <p:nvSpPr>
          <p:cNvPr id="4" name="Shape 2"/>
          <p:cNvSpPr/>
          <p:nvPr/>
        </p:nvSpPr>
        <p:spPr>
          <a:xfrm>
            <a:off x="731520" y="1097280"/>
            <a:ext cx="2468880" cy="1143000"/>
          </a:xfrm>
          <a:prstGeom prst="rect">
            <a:avLst/>
          </a:prstGeom>
          <a:solidFill>
            <a:srgbClr val="FEF2F2"/>
          </a:solidFill>
          <a:ln/>
          <a:effectLst>
            <a:outerShdw blurRad="76200" dist="25400" dir="8100000" algn="bl" rotWithShape="0">
              <a:srgbClr val="000000">
                <a:alpha val="10000"/>
              </a:srgbClr>
            </a:outerShdw>
          </a:effectLst>
        </p:spPr>
      </p:sp>
      <p:sp>
        <p:nvSpPr>
          <p:cNvPr id="5" name="Shape 3"/>
          <p:cNvSpPr/>
          <p:nvPr/>
        </p:nvSpPr>
        <p:spPr>
          <a:xfrm>
            <a:off x="731520" y="1097280"/>
            <a:ext cx="2468880" cy="45720"/>
          </a:xfrm>
          <a:prstGeom prst="rect">
            <a:avLst/>
          </a:prstGeom>
          <a:solidFill>
            <a:srgbClr val="EF4444"/>
          </a:solidFill>
          <a:ln/>
        </p:spPr>
      </p:sp>
      <p:pic>
        <p:nvPicPr>
          <p:cNvPr id="6" name="Image 0" descr="preencoded.png"/>
          <p:cNvPicPr>
            <a:picLocks noChangeAspect="1"/>
          </p:cNvPicPr>
          <p:nvPr/>
        </p:nvPicPr>
        <p:blipFill>
          <a:blip r:embed="rId3"/>
          <a:stretch>
            <a:fillRect/>
          </a:stretch>
        </p:blipFill>
        <p:spPr>
          <a:xfrm>
            <a:off x="914400" y="1280160"/>
            <a:ext cx="274320" cy="274320"/>
          </a:xfrm>
          <a:prstGeom prst="rect">
            <a:avLst/>
          </a:prstGeom>
        </p:spPr>
      </p:pic>
      <p:sp>
        <p:nvSpPr>
          <p:cNvPr id="7" name="Text 4"/>
          <p:cNvSpPr/>
          <p:nvPr/>
        </p:nvSpPr>
        <p:spPr>
          <a:xfrm>
            <a:off x="1280160" y="1261872"/>
            <a:ext cx="1737360" cy="274320"/>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議事録の工数</a:t>
            </a:r>
            <a:endParaRPr lang="en-US" sz="1300" dirty="0"/>
          </a:p>
        </p:txBody>
      </p:sp>
      <p:sp>
        <p:nvSpPr>
          <p:cNvPr id="8" name="Text 5"/>
          <p:cNvSpPr/>
          <p:nvPr/>
        </p:nvSpPr>
        <p:spPr>
          <a:xfrm>
            <a:off x="914400" y="1645920"/>
            <a:ext cx="2103120" cy="502920"/>
          </a:xfrm>
          <a:prstGeom prst="rect">
            <a:avLst/>
          </a:prstGeom>
          <a:noFill/>
          <a:ln/>
        </p:spPr>
        <p:txBody>
          <a:bodyPr wrap="square" lIns="0" tIns="0" rIns="0" bIns="0" rtlCol="0" anchor="ctr"/>
          <a:lstStyle/>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毎回数時間を要する</a:t>
            </a:r>
            <a:endParaRPr lang="en-US" sz="1100" dirty="0"/>
          </a:p>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手作業の議事録作成</a:t>
            </a:r>
            <a:endParaRPr lang="en-US" sz="1100" dirty="0"/>
          </a:p>
        </p:txBody>
      </p:sp>
      <p:sp>
        <p:nvSpPr>
          <p:cNvPr id="9" name="Shape 6"/>
          <p:cNvSpPr/>
          <p:nvPr/>
        </p:nvSpPr>
        <p:spPr>
          <a:xfrm>
            <a:off x="3566160" y="1097280"/>
            <a:ext cx="2468880" cy="1143000"/>
          </a:xfrm>
          <a:prstGeom prst="rect">
            <a:avLst/>
          </a:prstGeom>
          <a:solidFill>
            <a:srgbClr val="FEF2F2"/>
          </a:solidFill>
          <a:ln/>
          <a:effectLst>
            <a:outerShdw blurRad="76200" dist="25400" dir="8100000" algn="bl" rotWithShape="0">
              <a:srgbClr val="000000">
                <a:alpha val="10000"/>
              </a:srgbClr>
            </a:outerShdw>
          </a:effectLst>
        </p:spPr>
      </p:sp>
      <p:sp>
        <p:nvSpPr>
          <p:cNvPr id="10" name="Shape 7"/>
          <p:cNvSpPr/>
          <p:nvPr/>
        </p:nvSpPr>
        <p:spPr>
          <a:xfrm>
            <a:off x="3566160" y="1097280"/>
            <a:ext cx="2468880" cy="45720"/>
          </a:xfrm>
          <a:prstGeom prst="rect">
            <a:avLst/>
          </a:prstGeom>
          <a:solidFill>
            <a:srgbClr val="EF4444"/>
          </a:solidFill>
          <a:ln/>
        </p:spPr>
      </p:sp>
      <p:pic>
        <p:nvPicPr>
          <p:cNvPr id="11" name="Image 1" descr="preencoded.png"/>
          <p:cNvPicPr>
            <a:picLocks noChangeAspect="1"/>
          </p:cNvPicPr>
          <p:nvPr/>
        </p:nvPicPr>
        <p:blipFill>
          <a:blip r:embed="rId3"/>
          <a:stretch>
            <a:fillRect/>
          </a:stretch>
        </p:blipFill>
        <p:spPr>
          <a:xfrm>
            <a:off x="3749040" y="1280160"/>
            <a:ext cx="274320" cy="274320"/>
          </a:xfrm>
          <a:prstGeom prst="rect">
            <a:avLst/>
          </a:prstGeom>
        </p:spPr>
      </p:pic>
      <p:sp>
        <p:nvSpPr>
          <p:cNvPr id="12" name="Text 8"/>
          <p:cNvSpPr/>
          <p:nvPr/>
        </p:nvSpPr>
        <p:spPr>
          <a:xfrm>
            <a:off x="4114800" y="1261872"/>
            <a:ext cx="1737360" cy="274320"/>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属人化リスク</a:t>
            </a:r>
            <a:endParaRPr lang="en-US" sz="1300" dirty="0"/>
          </a:p>
        </p:txBody>
      </p:sp>
      <p:sp>
        <p:nvSpPr>
          <p:cNvPr id="13" name="Text 9"/>
          <p:cNvSpPr/>
          <p:nvPr/>
        </p:nvSpPr>
        <p:spPr>
          <a:xfrm>
            <a:off x="3749040" y="1645920"/>
            <a:ext cx="2103120" cy="502920"/>
          </a:xfrm>
          <a:prstGeom prst="rect">
            <a:avLst/>
          </a:prstGeom>
          <a:noFill/>
          <a:ln/>
        </p:spPr>
        <p:txBody>
          <a:bodyPr wrap="square" lIns="0" tIns="0" rIns="0" bIns="0" rtlCol="0" anchor="ctr"/>
          <a:lstStyle/>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特定担当者に依存し</a:t>
            </a:r>
            <a:endParaRPr lang="en-US" sz="1100" dirty="0"/>
          </a:p>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情報がブラックボックス化</a:t>
            </a:r>
            <a:endParaRPr lang="en-US" sz="1100" dirty="0"/>
          </a:p>
        </p:txBody>
      </p:sp>
      <p:sp>
        <p:nvSpPr>
          <p:cNvPr id="14" name="Shape 10"/>
          <p:cNvSpPr/>
          <p:nvPr/>
        </p:nvSpPr>
        <p:spPr>
          <a:xfrm>
            <a:off x="6400800" y="1097280"/>
            <a:ext cx="2468880" cy="1143000"/>
          </a:xfrm>
          <a:prstGeom prst="rect">
            <a:avLst/>
          </a:prstGeom>
          <a:solidFill>
            <a:srgbClr val="FEF2F2"/>
          </a:solidFill>
          <a:ln/>
          <a:effectLst>
            <a:outerShdw blurRad="76200" dist="25400" dir="8100000" algn="bl" rotWithShape="0">
              <a:srgbClr val="000000">
                <a:alpha val="10000"/>
              </a:srgbClr>
            </a:outerShdw>
          </a:effectLst>
        </p:spPr>
      </p:sp>
      <p:sp>
        <p:nvSpPr>
          <p:cNvPr id="15" name="Shape 11"/>
          <p:cNvSpPr/>
          <p:nvPr/>
        </p:nvSpPr>
        <p:spPr>
          <a:xfrm>
            <a:off x="6400800" y="1097280"/>
            <a:ext cx="2468880" cy="45720"/>
          </a:xfrm>
          <a:prstGeom prst="rect">
            <a:avLst/>
          </a:prstGeom>
          <a:solidFill>
            <a:srgbClr val="EF4444"/>
          </a:solidFill>
          <a:ln/>
        </p:spPr>
      </p:sp>
      <p:pic>
        <p:nvPicPr>
          <p:cNvPr id="16" name="Image 2" descr="preencoded.png"/>
          <p:cNvPicPr>
            <a:picLocks noChangeAspect="1"/>
          </p:cNvPicPr>
          <p:nvPr/>
        </p:nvPicPr>
        <p:blipFill>
          <a:blip r:embed="rId3"/>
          <a:stretch>
            <a:fillRect/>
          </a:stretch>
        </p:blipFill>
        <p:spPr>
          <a:xfrm>
            <a:off x="6583680" y="1280160"/>
            <a:ext cx="274320" cy="274320"/>
          </a:xfrm>
          <a:prstGeom prst="rect">
            <a:avLst/>
          </a:prstGeom>
        </p:spPr>
      </p:pic>
      <p:sp>
        <p:nvSpPr>
          <p:cNvPr id="17" name="Text 12"/>
          <p:cNvSpPr/>
          <p:nvPr/>
        </p:nvSpPr>
        <p:spPr>
          <a:xfrm>
            <a:off x="6949440" y="1261872"/>
            <a:ext cx="1737360" cy="274320"/>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セキュリティ懸念</a:t>
            </a:r>
            <a:endParaRPr lang="en-US" sz="1300" dirty="0"/>
          </a:p>
        </p:txBody>
      </p:sp>
      <p:sp>
        <p:nvSpPr>
          <p:cNvPr id="18" name="Text 13"/>
          <p:cNvSpPr/>
          <p:nvPr/>
        </p:nvSpPr>
        <p:spPr>
          <a:xfrm>
            <a:off x="6583680" y="1645920"/>
            <a:ext cx="2103120" cy="502920"/>
          </a:xfrm>
          <a:prstGeom prst="rect">
            <a:avLst/>
          </a:prstGeom>
          <a:noFill/>
          <a:ln/>
        </p:spPr>
        <p:txBody>
          <a:bodyPr wrap="square" lIns="0" tIns="0" rIns="0" bIns="0" rtlCol="0" anchor="ctr"/>
          <a:lstStyle/>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無料AIへの機密情報</a:t>
            </a:r>
            <a:endParaRPr lang="en-US" sz="1100" dirty="0"/>
          </a:p>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投入に対する不安</a:t>
            </a:r>
            <a:endParaRPr lang="en-US" sz="1100" dirty="0"/>
          </a:p>
        </p:txBody>
      </p:sp>
      <p:sp>
        <p:nvSpPr>
          <p:cNvPr id="19" name="Text 14"/>
          <p:cNvSpPr/>
          <p:nvPr/>
        </p:nvSpPr>
        <p:spPr>
          <a:xfrm>
            <a:off x="4114800" y="2377440"/>
            <a:ext cx="914400" cy="365760"/>
          </a:xfrm>
          <a:prstGeom prst="rect">
            <a:avLst/>
          </a:prstGeom>
          <a:noFill/>
          <a:ln/>
        </p:spPr>
        <p:txBody>
          <a:bodyPr wrap="square" lIns="0" tIns="0" rIns="0" bIns="0" rtlCol="0" anchor="ctr"/>
          <a:lstStyle/>
          <a:p>
            <a:pPr marL="0" indent="0" algn="ctr">
              <a:buNone/>
            </a:pPr>
            <a:r>
              <a:rPr lang="en-US" sz="2000" dirty="0">
                <a:solidFill>
                  <a:srgbClr val="3B82F6"/>
                </a:solidFill>
                <a:latin typeface="Calibri" pitchFamily="34" charset="0"/>
                <a:ea typeface="Calibri" pitchFamily="34" charset="-122"/>
                <a:cs typeface="Calibri" pitchFamily="34" charset="-120"/>
              </a:rPr>
              <a:t>▼</a:t>
            </a:r>
            <a:endParaRPr lang="en-US" sz="2000" dirty="0"/>
          </a:p>
        </p:txBody>
      </p:sp>
      <p:sp>
        <p:nvSpPr>
          <p:cNvPr id="20" name="Shape 15"/>
          <p:cNvSpPr/>
          <p:nvPr/>
        </p:nvSpPr>
        <p:spPr>
          <a:xfrm>
            <a:off x="731520" y="2834640"/>
            <a:ext cx="7680960" cy="1828800"/>
          </a:xfrm>
          <a:prstGeom prst="rect">
            <a:avLst/>
          </a:prstGeom>
          <a:solidFill>
            <a:srgbClr val="EFF6FF"/>
          </a:solidFill>
          <a:ln/>
          <a:effectLst>
            <a:outerShdw blurRad="76200" dist="25400" dir="8100000" algn="bl" rotWithShape="0">
              <a:srgbClr val="000000">
                <a:alpha val="10000"/>
              </a:srgbClr>
            </a:outerShdw>
          </a:effectLst>
        </p:spPr>
      </p:sp>
      <p:sp>
        <p:nvSpPr>
          <p:cNvPr id="21" name="Shape 16"/>
          <p:cNvSpPr/>
          <p:nvPr/>
        </p:nvSpPr>
        <p:spPr>
          <a:xfrm>
            <a:off x="731520" y="2834640"/>
            <a:ext cx="64008" cy="1828800"/>
          </a:xfrm>
          <a:prstGeom prst="rect">
            <a:avLst/>
          </a:prstGeom>
          <a:solidFill>
            <a:srgbClr val="3B82F6"/>
          </a:solidFill>
          <a:ln/>
        </p:spPr>
      </p:sp>
      <p:sp>
        <p:nvSpPr>
          <p:cNvPr id="22" name="Text 17"/>
          <p:cNvSpPr/>
          <p:nvPr/>
        </p:nvSpPr>
        <p:spPr>
          <a:xfrm>
            <a:off x="1051560" y="2926080"/>
            <a:ext cx="7132320" cy="36576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解決策：FMPJ専用 議事録自動生成ツール</a:t>
            </a:r>
            <a:endParaRPr lang="en-US" sz="1600" dirty="0"/>
          </a:p>
        </p:txBody>
      </p:sp>
      <p:pic>
        <p:nvPicPr>
          <p:cNvPr id="23" name="Image 3" descr="preencoded.png"/>
          <p:cNvPicPr>
            <a:picLocks noChangeAspect="1"/>
          </p:cNvPicPr>
          <p:nvPr/>
        </p:nvPicPr>
        <p:blipFill>
          <a:blip r:embed="rId4"/>
          <a:stretch>
            <a:fillRect/>
          </a:stretch>
        </p:blipFill>
        <p:spPr>
          <a:xfrm>
            <a:off x="1188720" y="3383280"/>
            <a:ext cx="228600" cy="228600"/>
          </a:xfrm>
          <a:prstGeom prst="rect">
            <a:avLst/>
          </a:prstGeom>
        </p:spPr>
      </p:pic>
      <p:sp>
        <p:nvSpPr>
          <p:cNvPr id="24" name="Text 18"/>
          <p:cNvSpPr/>
          <p:nvPr/>
        </p:nvSpPr>
        <p:spPr>
          <a:xfrm>
            <a:off x="1554480" y="3364992"/>
            <a:ext cx="6400800" cy="274320"/>
          </a:xfrm>
          <a:prstGeom prst="rect">
            <a:avLst/>
          </a:prstGeom>
          <a:noFill/>
          <a:ln/>
        </p:spPr>
        <p:txBody>
          <a:bodyPr wrap="square" lIns="0" tIns="0" rIns="0" bIns="0" rtlCol="0" anchor="ctr"/>
          <a:lstStyle/>
          <a:p>
            <a:pPr marL="0" indent="0">
              <a:buNone/>
            </a:pPr>
            <a:r>
              <a:rPr lang="en-US" sz="1200" dirty="0">
                <a:solidFill>
                  <a:srgbClr val="1A1F36"/>
                </a:solidFill>
                <a:latin typeface="Calibri" pitchFamily="34" charset="0"/>
                <a:ea typeface="Calibri" pitchFamily="34" charset="-122"/>
                <a:cs typeface="Calibri" pitchFamily="34" charset="-120"/>
              </a:rPr>
              <a:t>ゼロデータ保持 ── API経由で機密情報が学習に使われない</a:t>
            </a:r>
            <a:endParaRPr lang="en-US" sz="1200" dirty="0"/>
          </a:p>
        </p:txBody>
      </p:sp>
      <p:pic>
        <p:nvPicPr>
          <p:cNvPr id="25" name="Image 4" descr="preencoded.png"/>
          <p:cNvPicPr>
            <a:picLocks noChangeAspect="1"/>
          </p:cNvPicPr>
          <p:nvPr/>
        </p:nvPicPr>
        <p:blipFill>
          <a:blip r:embed="rId5"/>
          <a:stretch>
            <a:fillRect/>
          </a:stretch>
        </p:blipFill>
        <p:spPr>
          <a:xfrm>
            <a:off x="1188720" y="3749040"/>
            <a:ext cx="228600" cy="228600"/>
          </a:xfrm>
          <a:prstGeom prst="rect">
            <a:avLst/>
          </a:prstGeom>
        </p:spPr>
      </p:pic>
      <p:sp>
        <p:nvSpPr>
          <p:cNvPr id="26" name="Text 19"/>
          <p:cNvSpPr/>
          <p:nvPr/>
        </p:nvSpPr>
        <p:spPr>
          <a:xfrm>
            <a:off x="1554480" y="3730752"/>
            <a:ext cx="6400800" cy="274320"/>
          </a:xfrm>
          <a:prstGeom prst="rect">
            <a:avLst/>
          </a:prstGeom>
          <a:noFill/>
          <a:ln/>
        </p:spPr>
        <p:txBody>
          <a:bodyPr wrap="square" lIns="0" tIns="0" rIns="0" bIns="0" rtlCol="0" anchor="ctr"/>
          <a:lstStyle/>
          <a:p>
            <a:pPr marL="0" indent="0">
              <a:buNone/>
            </a:pPr>
            <a:r>
              <a:rPr lang="en-US" sz="1200" dirty="0">
                <a:solidFill>
                  <a:srgbClr val="1A1F36"/>
                </a:solidFill>
                <a:latin typeface="Calibri" pitchFamily="34" charset="0"/>
                <a:ea typeface="Calibri" pitchFamily="34" charset="-122"/>
                <a:cs typeface="Calibri" pitchFamily="34" charset="-120"/>
              </a:rPr>
              <a:t>学習コストゼロ ── 画面の指示に従うだけで誰でも同品質の結果</a:t>
            </a:r>
            <a:endParaRPr lang="en-US" sz="1200" dirty="0"/>
          </a:p>
        </p:txBody>
      </p:sp>
      <p:pic>
        <p:nvPicPr>
          <p:cNvPr id="27" name="Image 5" descr="preencoded.png"/>
          <p:cNvPicPr>
            <a:picLocks noChangeAspect="1"/>
          </p:cNvPicPr>
          <p:nvPr/>
        </p:nvPicPr>
        <p:blipFill>
          <a:blip r:embed="rId6"/>
          <a:stretch>
            <a:fillRect/>
          </a:stretch>
        </p:blipFill>
        <p:spPr>
          <a:xfrm>
            <a:off x="1188720" y="4114800"/>
            <a:ext cx="228600" cy="228600"/>
          </a:xfrm>
          <a:prstGeom prst="rect">
            <a:avLst/>
          </a:prstGeom>
        </p:spPr>
      </p:pic>
      <p:sp>
        <p:nvSpPr>
          <p:cNvPr id="28" name="Text 20"/>
          <p:cNvSpPr/>
          <p:nvPr/>
        </p:nvSpPr>
        <p:spPr>
          <a:xfrm>
            <a:off x="1554480" y="4096512"/>
            <a:ext cx="6400800" cy="274320"/>
          </a:xfrm>
          <a:prstGeom prst="rect">
            <a:avLst/>
          </a:prstGeom>
          <a:noFill/>
          <a:ln/>
        </p:spPr>
        <p:txBody>
          <a:bodyPr wrap="square" lIns="0" tIns="0" rIns="0" bIns="0" rtlCol="0" anchor="ctr"/>
          <a:lstStyle/>
          <a:p>
            <a:pPr marL="0" indent="0">
              <a:buNone/>
            </a:pPr>
            <a:r>
              <a:rPr lang="en-US" sz="1200" dirty="0">
                <a:solidFill>
                  <a:srgbClr val="1A1F36"/>
                </a:solidFill>
                <a:latin typeface="Calibri" pitchFamily="34" charset="0"/>
                <a:ea typeface="Calibri" pitchFamily="34" charset="-122"/>
                <a:cs typeface="Calibri" pitchFamily="34" charset="-120"/>
              </a:rPr>
              <a:t>フォーマット完全再現 ── 過去議事録のトーンを忠実に出力</a:t>
            </a:r>
            <a:endParaRPr lang="en-US" sz="1200" dirty="0"/>
          </a:p>
        </p:txBody>
      </p:sp>
      <p:sp>
        <p:nvSpPr>
          <p:cNvPr id="29" name="Text 21"/>
          <p:cNvSpPr/>
          <p:nvPr/>
        </p:nvSpPr>
        <p:spPr>
          <a:xfrm>
            <a:off x="731520" y="4754880"/>
            <a:ext cx="7680960" cy="274320"/>
          </a:xfrm>
          <a:prstGeom prst="rect">
            <a:avLst/>
          </a:prstGeom>
          <a:noFill/>
          <a:ln/>
        </p:spPr>
        <p:txBody>
          <a:bodyPr wrap="square" lIns="0" tIns="0" rIns="0" bIns="0" rtlCol="0" anchor="ctr"/>
          <a:lstStyle/>
          <a:p>
            <a:pPr marL="0" indent="0">
              <a:buNone/>
            </a:pPr>
            <a:r>
              <a:rPr lang="en-US" sz="900" i="1" dirty="0">
                <a:solidFill>
                  <a:srgbClr val="8896AB"/>
                </a:solidFill>
                <a:latin typeface="Calibri" pitchFamily="34" charset="0"/>
                <a:ea typeface="Calibri" pitchFamily="34" charset="-122"/>
                <a:cs typeface="Calibri" pitchFamily="34" charset="-120"/>
              </a:rPr>
              <a:t>※ 直近の省庁関連プロジェクトでも、情報の属人化が原因で業務停止が発生。AIツールによる即時テキスト化・共有で回避可能です。</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A1F36"/>
                </a:solidFill>
                <a:latin typeface="Calibri" pitchFamily="34" charset="0"/>
                <a:ea typeface="Calibri" pitchFamily="34" charset="-122"/>
                <a:cs typeface="Calibri" pitchFamily="34" charset="-120"/>
              </a:rPr>
              <a:t>専用ツールの3つのメリット</a:t>
            </a:r>
            <a:endParaRPr lang="en-US" sz="2800" dirty="0"/>
          </a:p>
        </p:txBody>
      </p:sp>
      <p:sp>
        <p:nvSpPr>
          <p:cNvPr id="4" name="Shape 2"/>
          <p:cNvSpPr/>
          <p:nvPr/>
        </p:nvSpPr>
        <p:spPr>
          <a:xfrm>
            <a:off x="731520" y="1097280"/>
            <a:ext cx="7680960" cy="1097280"/>
          </a:xfrm>
          <a:prstGeom prst="rect">
            <a:avLst/>
          </a:prstGeom>
          <a:solidFill>
            <a:srgbClr val="F5F7FA"/>
          </a:solidFill>
          <a:ln/>
          <a:effectLst>
            <a:outerShdw blurRad="76200" dist="25400" dir="8100000" algn="bl" rotWithShape="0">
              <a:srgbClr val="000000">
                <a:alpha val="10000"/>
              </a:srgbClr>
            </a:outerShdw>
          </a:effectLst>
        </p:spPr>
      </p:sp>
      <p:sp>
        <p:nvSpPr>
          <p:cNvPr id="5" name="Shape 3"/>
          <p:cNvSpPr/>
          <p:nvPr/>
        </p:nvSpPr>
        <p:spPr>
          <a:xfrm>
            <a:off x="731520" y="1097280"/>
            <a:ext cx="64008" cy="1097280"/>
          </a:xfrm>
          <a:prstGeom prst="rect">
            <a:avLst/>
          </a:prstGeom>
          <a:solidFill>
            <a:srgbClr val="3B82F6"/>
          </a:solidFill>
          <a:ln/>
        </p:spPr>
      </p:sp>
      <p:pic>
        <p:nvPicPr>
          <p:cNvPr id="6" name="Image 0" descr="preencoded.png"/>
          <p:cNvPicPr>
            <a:picLocks noChangeAspect="1"/>
          </p:cNvPicPr>
          <p:nvPr/>
        </p:nvPicPr>
        <p:blipFill>
          <a:blip r:embed="rId3"/>
          <a:stretch>
            <a:fillRect/>
          </a:stretch>
        </p:blipFill>
        <p:spPr>
          <a:xfrm>
            <a:off x="1097280" y="1389888"/>
            <a:ext cx="411480" cy="411480"/>
          </a:xfrm>
          <a:prstGeom prst="rect">
            <a:avLst/>
          </a:prstGeom>
        </p:spPr>
      </p:pic>
      <p:sp>
        <p:nvSpPr>
          <p:cNvPr id="7" name="Text 4"/>
          <p:cNvSpPr/>
          <p:nvPr/>
        </p:nvSpPr>
        <p:spPr>
          <a:xfrm>
            <a:off x="1691640" y="1170432"/>
            <a:ext cx="457200" cy="27432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01</a:t>
            </a:r>
            <a:endParaRPr lang="en-US" sz="1800" dirty="0"/>
          </a:p>
        </p:txBody>
      </p:sp>
      <p:sp>
        <p:nvSpPr>
          <p:cNvPr id="8" name="Text 5"/>
          <p:cNvSpPr/>
          <p:nvPr/>
        </p:nvSpPr>
        <p:spPr>
          <a:xfrm>
            <a:off x="2148840" y="1170432"/>
            <a:ext cx="2743200" cy="274320"/>
          </a:xfrm>
          <a:prstGeom prst="rect">
            <a:avLst/>
          </a:prstGeom>
          <a:noFill/>
          <a:ln/>
        </p:spPr>
        <p:txBody>
          <a:bodyPr wrap="square" lIns="0" tIns="0" rIns="0" bIns="0" rtlCol="0" anchor="ctr"/>
          <a:lstStyle/>
          <a:p>
            <a:pPr marL="0" indent="0">
              <a:buNone/>
            </a:pPr>
            <a:r>
              <a:rPr lang="en-US" sz="1500" b="1" dirty="0">
                <a:solidFill>
                  <a:srgbClr val="1A1F36"/>
                </a:solidFill>
                <a:latin typeface="Calibri" pitchFamily="34" charset="0"/>
                <a:ea typeface="Calibri" pitchFamily="34" charset="-122"/>
                <a:cs typeface="Calibri" pitchFamily="34" charset="-120"/>
              </a:rPr>
              <a:t>完璧なセキュリティ</a:t>
            </a:r>
            <a:endParaRPr lang="en-US" sz="1500" dirty="0"/>
          </a:p>
        </p:txBody>
      </p:sp>
      <p:sp>
        <p:nvSpPr>
          <p:cNvPr id="9" name="Text 6"/>
          <p:cNvSpPr/>
          <p:nvPr/>
        </p:nvSpPr>
        <p:spPr>
          <a:xfrm>
            <a:off x="2148840" y="1444752"/>
            <a:ext cx="1828800" cy="228600"/>
          </a:xfrm>
          <a:prstGeom prst="rect">
            <a:avLst/>
          </a:prstGeom>
          <a:noFill/>
          <a:ln/>
        </p:spPr>
        <p:txBody>
          <a:bodyPr wrap="square" lIns="0" tIns="0" rIns="0" bIns="0" rtlCol="0" anchor="ctr"/>
          <a:lstStyle/>
          <a:p>
            <a:pPr marL="0" indent="0">
              <a:buNone/>
            </a:pPr>
            <a:r>
              <a:rPr lang="en-US" sz="1000" dirty="0">
                <a:solidFill>
                  <a:srgbClr val="3B82F6"/>
                </a:solidFill>
                <a:latin typeface="Calibri" pitchFamily="34" charset="0"/>
                <a:ea typeface="Calibri" pitchFamily="34" charset="-122"/>
                <a:cs typeface="Calibri" pitchFamily="34" charset="-120"/>
              </a:rPr>
              <a:t>ゼロデータ保持</a:t>
            </a:r>
            <a:endParaRPr lang="en-US" sz="1000" dirty="0"/>
          </a:p>
        </p:txBody>
      </p:sp>
      <p:sp>
        <p:nvSpPr>
          <p:cNvPr id="10" name="Text 7"/>
          <p:cNvSpPr/>
          <p:nvPr/>
        </p:nvSpPr>
        <p:spPr>
          <a:xfrm>
            <a:off x="2148840" y="1664208"/>
            <a:ext cx="6035040" cy="457200"/>
          </a:xfrm>
          <a:prstGeom prst="rect">
            <a:avLst/>
          </a:prstGeom>
          <a:noFill/>
          <a:ln/>
        </p:spPr>
        <p:txBody>
          <a:bodyPr wrap="square" lIns="0" tIns="0" rIns="0" bIns="0" rtlCol="0" anchor="ctr"/>
          <a:lstStyle/>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API経由の専用システムにより、入力データがAIの学習に使われるリスクを完全に排除。理事会等の機密性の高い会議でも安心して利用いただけます。</a:t>
            </a:r>
            <a:endParaRPr lang="en-US" sz="1100" dirty="0"/>
          </a:p>
        </p:txBody>
      </p:sp>
      <p:sp>
        <p:nvSpPr>
          <p:cNvPr id="11" name="Shape 8"/>
          <p:cNvSpPr/>
          <p:nvPr/>
        </p:nvSpPr>
        <p:spPr>
          <a:xfrm>
            <a:off x="731520" y="2377440"/>
            <a:ext cx="7680960" cy="1097280"/>
          </a:xfrm>
          <a:prstGeom prst="rect">
            <a:avLst/>
          </a:prstGeom>
          <a:solidFill>
            <a:srgbClr val="F5F7FA"/>
          </a:solidFill>
          <a:ln/>
          <a:effectLst>
            <a:outerShdw blurRad="76200" dist="25400" dir="8100000" algn="bl" rotWithShape="0">
              <a:srgbClr val="000000">
                <a:alpha val="10000"/>
              </a:srgbClr>
            </a:outerShdw>
          </a:effectLst>
        </p:spPr>
      </p:sp>
      <p:sp>
        <p:nvSpPr>
          <p:cNvPr id="12" name="Shape 9"/>
          <p:cNvSpPr/>
          <p:nvPr/>
        </p:nvSpPr>
        <p:spPr>
          <a:xfrm>
            <a:off x="731520" y="2377440"/>
            <a:ext cx="64008" cy="1097280"/>
          </a:xfrm>
          <a:prstGeom prst="rect">
            <a:avLst/>
          </a:prstGeom>
          <a:solidFill>
            <a:srgbClr val="0891B2"/>
          </a:solidFill>
          <a:ln/>
        </p:spPr>
      </p:sp>
      <p:pic>
        <p:nvPicPr>
          <p:cNvPr id="13" name="Image 1" descr="preencoded.png"/>
          <p:cNvPicPr>
            <a:picLocks noChangeAspect="1"/>
          </p:cNvPicPr>
          <p:nvPr/>
        </p:nvPicPr>
        <p:blipFill>
          <a:blip r:embed="rId4"/>
          <a:stretch>
            <a:fillRect/>
          </a:stretch>
        </p:blipFill>
        <p:spPr>
          <a:xfrm>
            <a:off x="1097280" y="2670048"/>
            <a:ext cx="411480" cy="411480"/>
          </a:xfrm>
          <a:prstGeom prst="rect">
            <a:avLst/>
          </a:prstGeom>
        </p:spPr>
      </p:pic>
      <p:sp>
        <p:nvSpPr>
          <p:cNvPr id="14" name="Text 10"/>
          <p:cNvSpPr/>
          <p:nvPr/>
        </p:nvSpPr>
        <p:spPr>
          <a:xfrm>
            <a:off x="1691640" y="2450592"/>
            <a:ext cx="457200" cy="274320"/>
          </a:xfrm>
          <a:prstGeom prst="rect">
            <a:avLst/>
          </a:prstGeom>
          <a:noFill/>
          <a:ln/>
        </p:spPr>
        <p:txBody>
          <a:bodyPr wrap="square" lIns="0" tIns="0" rIns="0" bIns="0" rtlCol="0" anchor="ctr"/>
          <a:lstStyle/>
          <a:p>
            <a:pPr marL="0" indent="0">
              <a:buNone/>
            </a:pPr>
            <a:r>
              <a:rPr lang="en-US" sz="1800" b="1" dirty="0">
                <a:solidFill>
                  <a:srgbClr val="0891B2"/>
                </a:solidFill>
                <a:latin typeface="Calibri" pitchFamily="34" charset="0"/>
                <a:ea typeface="Calibri" pitchFamily="34" charset="-122"/>
                <a:cs typeface="Calibri" pitchFamily="34" charset="-120"/>
              </a:rPr>
              <a:t>02</a:t>
            </a:r>
            <a:endParaRPr lang="en-US" sz="1800" dirty="0"/>
          </a:p>
        </p:txBody>
      </p:sp>
      <p:sp>
        <p:nvSpPr>
          <p:cNvPr id="15" name="Text 11"/>
          <p:cNvSpPr/>
          <p:nvPr/>
        </p:nvSpPr>
        <p:spPr>
          <a:xfrm>
            <a:off x="2148840" y="2450592"/>
            <a:ext cx="2743200" cy="274320"/>
          </a:xfrm>
          <a:prstGeom prst="rect">
            <a:avLst/>
          </a:prstGeom>
          <a:noFill/>
          <a:ln/>
        </p:spPr>
        <p:txBody>
          <a:bodyPr wrap="square" lIns="0" tIns="0" rIns="0" bIns="0" rtlCol="0" anchor="ctr"/>
          <a:lstStyle/>
          <a:p>
            <a:pPr marL="0" indent="0">
              <a:buNone/>
            </a:pPr>
            <a:r>
              <a:rPr lang="en-US" sz="1500" b="1" dirty="0">
                <a:solidFill>
                  <a:srgbClr val="1A1F36"/>
                </a:solidFill>
                <a:latin typeface="Calibri" pitchFamily="34" charset="0"/>
                <a:ea typeface="Calibri" pitchFamily="34" charset="-122"/>
                <a:cs typeface="Calibri" pitchFamily="34" charset="-120"/>
              </a:rPr>
              <a:t>学習コストゼロ</a:t>
            </a:r>
            <a:endParaRPr lang="en-US" sz="1500" dirty="0"/>
          </a:p>
        </p:txBody>
      </p:sp>
      <p:sp>
        <p:nvSpPr>
          <p:cNvPr id="16" name="Text 12"/>
          <p:cNvSpPr/>
          <p:nvPr/>
        </p:nvSpPr>
        <p:spPr>
          <a:xfrm>
            <a:off x="2148840" y="2724912"/>
            <a:ext cx="1828800" cy="228600"/>
          </a:xfrm>
          <a:prstGeom prst="rect">
            <a:avLst/>
          </a:prstGeom>
          <a:noFill/>
          <a:ln/>
        </p:spPr>
        <p:txBody>
          <a:bodyPr wrap="square" lIns="0" tIns="0" rIns="0" bIns="0" rtlCol="0" anchor="ctr"/>
          <a:lstStyle/>
          <a:p>
            <a:pPr marL="0" indent="0">
              <a:buNone/>
            </a:pPr>
            <a:r>
              <a:rPr lang="en-US" sz="1000" dirty="0">
                <a:solidFill>
                  <a:srgbClr val="0891B2"/>
                </a:solidFill>
                <a:latin typeface="Calibri" pitchFamily="34" charset="0"/>
                <a:ea typeface="Calibri" pitchFamily="34" charset="-122"/>
                <a:cs typeface="Calibri" pitchFamily="34" charset="-120"/>
              </a:rPr>
              <a:t>属人化の排除</a:t>
            </a:r>
            <a:endParaRPr lang="en-US" sz="1000" dirty="0"/>
          </a:p>
        </p:txBody>
      </p:sp>
      <p:sp>
        <p:nvSpPr>
          <p:cNvPr id="17" name="Text 13"/>
          <p:cNvSpPr/>
          <p:nvPr/>
        </p:nvSpPr>
        <p:spPr>
          <a:xfrm>
            <a:off x="2148840" y="2944368"/>
            <a:ext cx="6035040" cy="457200"/>
          </a:xfrm>
          <a:prstGeom prst="rect">
            <a:avLst/>
          </a:prstGeom>
          <a:noFill/>
          <a:ln/>
        </p:spPr>
        <p:txBody>
          <a:bodyPr wrap="square" lIns="0" tIns="0" rIns="0" bIns="0" rtlCol="0" anchor="ctr"/>
          <a:lstStyle/>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プロンプトの書き方を覚える必要はありません。画面の指示に従って話者を指定するだけで、誰もが同じ高品質な結果を得られます。</a:t>
            </a:r>
            <a:endParaRPr lang="en-US" sz="1100" dirty="0"/>
          </a:p>
        </p:txBody>
      </p:sp>
      <p:sp>
        <p:nvSpPr>
          <p:cNvPr id="18" name="Shape 14"/>
          <p:cNvSpPr/>
          <p:nvPr/>
        </p:nvSpPr>
        <p:spPr>
          <a:xfrm>
            <a:off x="731520" y="3657600"/>
            <a:ext cx="7680960" cy="1097280"/>
          </a:xfrm>
          <a:prstGeom prst="rect">
            <a:avLst/>
          </a:prstGeom>
          <a:solidFill>
            <a:srgbClr val="F5F7FA"/>
          </a:solidFill>
          <a:ln/>
          <a:effectLst>
            <a:outerShdw blurRad="76200" dist="25400" dir="8100000" algn="bl" rotWithShape="0">
              <a:srgbClr val="000000">
                <a:alpha val="10000"/>
              </a:srgbClr>
            </a:outerShdw>
          </a:effectLst>
        </p:spPr>
      </p:sp>
      <p:sp>
        <p:nvSpPr>
          <p:cNvPr id="19" name="Shape 15"/>
          <p:cNvSpPr/>
          <p:nvPr/>
        </p:nvSpPr>
        <p:spPr>
          <a:xfrm>
            <a:off x="731520" y="3657600"/>
            <a:ext cx="64008" cy="1097280"/>
          </a:xfrm>
          <a:prstGeom prst="rect">
            <a:avLst/>
          </a:prstGeom>
          <a:solidFill>
            <a:srgbClr val="10B981"/>
          </a:solidFill>
          <a:ln/>
        </p:spPr>
      </p:sp>
      <p:pic>
        <p:nvPicPr>
          <p:cNvPr id="20" name="Image 2" descr="preencoded.png"/>
          <p:cNvPicPr>
            <a:picLocks noChangeAspect="1"/>
          </p:cNvPicPr>
          <p:nvPr/>
        </p:nvPicPr>
        <p:blipFill>
          <a:blip r:embed="rId5"/>
          <a:stretch>
            <a:fillRect/>
          </a:stretch>
        </p:blipFill>
        <p:spPr>
          <a:xfrm>
            <a:off x="1097280" y="3950208"/>
            <a:ext cx="411480" cy="411480"/>
          </a:xfrm>
          <a:prstGeom prst="rect">
            <a:avLst/>
          </a:prstGeom>
        </p:spPr>
      </p:pic>
      <p:sp>
        <p:nvSpPr>
          <p:cNvPr id="21" name="Text 16"/>
          <p:cNvSpPr/>
          <p:nvPr/>
        </p:nvSpPr>
        <p:spPr>
          <a:xfrm>
            <a:off x="1691640" y="3730752"/>
            <a:ext cx="457200" cy="274320"/>
          </a:xfrm>
          <a:prstGeom prst="rect">
            <a:avLst/>
          </a:prstGeom>
          <a:noFill/>
          <a:ln/>
        </p:spPr>
        <p:txBody>
          <a:bodyPr wrap="square" lIns="0" tIns="0" rIns="0" bIns="0" rtlCol="0" anchor="ctr"/>
          <a:lstStyle/>
          <a:p>
            <a:pPr marL="0" indent="0">
              <a:buNone/>
            </a:pPr>
            <a:r>
              <a:rPr lang="en-US" sz="1800" b="1" dirty="0">
                <a:solidFill>
                  <a:srgbClr val="10B981"/>
                </a:solidFill>
                <a:latin typeface="Calibri" pitchFamily="34" charset="0"/>
                <a:ea typeface="Calibri" pitchFamily="34" charset="-122"/>
                <a:cs typeface="Calibri" pitchFamily="34" charset="-120"/>
              </a:rPr>
              <a:t>03</a:t>
            </a:r>
            <a:endParaRPr lang="en-US" sz="1800" dirty="0"/>
          </a:p>
        </p:txBody>
      </p:sp>
      <p:sp>
        <p:nvSpPr>
          <p:cNvPr id="22" name="Text 17"/>
          <p:cNvSpPr/>
          <p:nvPr/>
        </p:nvSpPr>
        <p:spPr>
          <a:xfrm>
            <a:off x="2148840" y="3730752"/>
            <a:ext cx="2743200" cy="274320"/>
          </a:xfrm>
          <a:prstGeom prst="rect">
            <a:avLst/>
          </a:prstGeom>
          <a:noFill/>
          <a:ln/>
        </p:spPr>
        <p:txBody>
          <a:bodyPr wrap="square" lIns="0" tIns="0" rIns="0" bIns="0" rtlCol="0" anchor="ctr"/>
          <a:lstStyle/>
          <a:p>
            <a:pPr marL="0" indent="0">
              <a:buNone/>
            </a:pPr>
            <a:r>
              <a:rPr lang="en-US" sz="1500" b="1" dirty="0">
                <a:solidFill>
                  <a:srgbClr val="1A1F36"/>
                </a:solidFill>
                <a:latin typeface="Calibri" pitchFamily="34" charset="0"/>
                <a:ea typeface="Calibri" pitchFamily="34" charset="-122"/>
                <a:cs typeface="Calibri" pitchFamily="34" charset="-120"/>
              </a:rPr>
              <a:t>FMPJフォーマット完全再現</a:t>
            </a:r>
            <a:endParaRPr lang="en-US" sz="1500" dirty="0"/>
          </a:p>
        </p:txBody>
      </p:sp>
      <p:sp>
        <p:nvSpPr>
          <p:cNvPr id="23" name="Text 18"/>
          <p:cNvSpPr/>
          <p:nvPr/>
        </p:nvSpPr>
        <p:spPr>
          <a:xfrm>
            <a:off x="2148840" y="4005072"/>
            <a:ext cx="1828800" cy="228600"/>
          </a:xfrm>
          <a:prstGeom prst="rect">
            <a:avLst/>
          </a:prstGeom>
          <a:noFill/>
          <a:ln/>
        </p:spPr>
        <p:txBody>
          <a:bodyPr wrap="square" lIns="0" tIns="0" rIns="0" bIns="0" rtlCol="0" anchor="ctr"/>
          <a:lstStyle/>
          <a:p>
            <a:pPr marL="0" indent="0">
              <a:buNone/>
            </a:pPr>
            <a:r>
              <a:rPr lang="en-US" sz="1000" dirty="0">
                <a:solidFill>
                  <a:srgbClr val="10B981"/>
                </a:solidFill>
                <a:latin typeface="Calibri" pitchFamily="34" charset="0"/>
                <a:ea typeface="Calibri" pitchFamily="34" charset="-122"/>
                <a:cs typeface="Calibri" pitchFamily="34" charset="-120"/>
              </a:rPr>
              <a:t>見慣れたトーン＆マナー</a:t>
            </a:r>
            <a:endParaRPr lang="en-US" sz="1000" dirty="0"/>
          </a:p>
        </p:txBody>
      </p:sp>
      <p:sp>
        <p:nvSpPr>
          <p:cNvPr id="24" name="Text 19"/>
          <p:cNvSpPr/>
          <p:nvPr/>
        </p:nvSpPr>
        <p:spPr>
          <a:xfrm>
            <a:off x="2148840" y="4224528"/>
            <a:ext cx="6035040" cy="457200"/>
          </a:xfrm>
          <a:prstGeom prst="rect">
            <a:avLst/>
          </a:prstGeom>
          <a:noFill/>
          <a:ln/>
        </p:spPr>
        <p:txBody>
          <a:bodyPr wrap="square" lIns="0" tIns="0" rIns="0" bIns="0" rtlCol="0" anchor="ctr"/>
          <a:lstStyle/>
          <a:p>
            <a:pPr marL="0" indent="0">
              <a:lnSpc>
                <a:spcPct val="140000"/>
              </a:lnSpc>
              <a:buNone/>
            </a:pPr>
            <a:r>
              <a:rPr lang="en-US" sz="1100" dirty="0">
                <a:solidFill>
                  <a:srgbClr val="3D4663"/>
                </a:solidFill>
                <a:latin typeface="Calibri" pitchFamily="34" charset="0"/>
                <a:ea typeface="Calibri" pitchFamily="34" charset="-122"/>
                <a:cs typeface="Calibri" pitchFamily="34" charset="-120"/>
              </a:rPr>
              <a:t>過去の正式議事録をシステムに組み込み済み。いつもの書式・文体で出力されるため、違和感なく業務に組み込めます。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600" b="1" dirty="0">
                <a:solidFill>
                  <a:srgbClr val="1A1F36"/>
                </a:solidFill>
                <a:latin typeface="Calibri" pitchFamily="34" charset="0"/>
                <a:ea typeface="Calibri" pitchFamily="34" charset="-122"/>
                <a:cs typeface="Calibri" pitchFamily="34" charset="-120"/>
              </a:rPr>
              <a:t>汎用AIツール vs FMPJ専用ツール</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7772400" cy="3090672"/>
        </p:xfrm>
        <a:graphic>
          <a:graphicData uri="http://schemas.openxmlformats.org/drawingml/2006/table">
            <a:tbl>
              <a:tblPr/>
              <a:tblGrid>
                <a:gridCol w="1188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評価軸</a:t>
                      </a:r>
                      <a:endParaRPr lang="en-US" sz="11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汎用AIチャット</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（無料版Claude/ChatGPT等）</a:t>
                      </a:r>
                      <a:endParaRPr lang="en-US" sz="11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FMPJ専用ツール</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（API経由開発）</a:t>
                      </a:r>
                      <a:endParaRPr lang="en-US" sz="11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38912">
                <a:tc>
                  <a:txBody>
                    <a:bodyPr/>
                    <a:lstStyle/>
                    <a:p>
                      <a:pPr marL="0" indent="0">
                        <a:buNone/>
                      </a:pPr>
                      <a:r>
                        <a:rPr lang="en-US" sz="1000" b="1" dirty="0">
                          <a:solidFill>
                            <a:srgbClr val="3D4663"/>
                          </a:solidFill>
                          <a:latin typeface="Calibri" pitchFamily="34" charset="0"/>
                          <a:ea typeface="Calibri" pitchFamily="34" charset="-122"/>
                          <a:cs typeface="Calibri" pitchFamily="34" charset="-120"/>
                        </a:rPr>
                        <a:t>セキュリティ</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5F7FA"/>
                    </a:solidFill>
                  </a:tcPr>
                </a:tc>
                <a:tc>
                  <a:txBody>
                    <a:bodyPr/>
                    <a:lstStyle/>
                    <a:p>
                      <a:pPr marL="0" indent="0">
                        <a:buNone/>
                      </a:pPr>
                      <a:r>
                        <a:rPr lang="en-US" sz="1000" dirty="0">
                          <a:solidFill>
                            <a:srgbClr val="991B1B"/>
                          </a:solidFill>
                          <a:latin typeface="Calibri" pitchFamily="34" charset="0"/>
                          <a:ea typeface="Calibri" pitchFamily="34" charset="-122"/>
                          <a:cs typeface="Calibri" pitchFamily="34" charset="-120"/>
                        </a:rPr>
                        <a:t>△ 入力データがAI学習に利用される可能性あり</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EF2F2"/>
                    </a:solidFill>
                  </a:tcPr>
                </a:tc>
                <a:tc>
                  <a:txBody>
                    <a:bodyPr/>
                    <a:lstStyle/>
                    <a:p>
                      <a:pPr marL="0" indent="0">
                        <a:buNone/>
                      </a:pPr>
                      <a:r>
                        <a:rPr lang="en-US" sz="1000" dirty="0">
                          <a:solidFill>
                            <a:srgbClr val="065F46"/>
                          </a:solidFill>
                          <a:latin typeface="Calibri" pitchFamily="34" charset="0"/>
                          <a:ea typeface="Calibri" pitchFamily="34" charset="-122"/>
                          <a:cs typeface="Calibri" pitchFamily="34" charset="-120"/>
                        </a:rPr>
                        <a:t>◎ ゼロデータ保持。機密会議も安心</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CFDF5"/>
                    </a:solidFill>
                  </a:tcPr>
                </a:tc>
                <a:extLst>
                  <a:ext uri="{0D108BD9-81ED-4DB2-BD59-A6C34878D82A}">
                    <a16:rowId xmlns:a16="http://schemas.microsoft.com/office/drawing/2014/main" val="10001"/>
                  </a:ext>
                </a:extLst>
              </a:tr>
              <a:tr h="438912">
                <a:tc>
                  <a:txBody>
                    <a:bodyPr/>
                    <a:lstStyle/>
                    <a:p>
                      <a:pPr marL="0" indent="0">
                        <a:buNone/>
                      </a:pPr>
                      <a:r>
                        <a:rPr lang="en-US" sz="1000" b="1" dirty="0">
                          <a:solidFill>
                            <a:srgbClr val="3D4663"/>
                          </a:solidFill>
                          <a:latin typeface="Calibri" pitchFamily="34" charset="0"/>
                          <a:ea typeface="Calibri" pitchFamily="34" charset="-122"/>
                          <a:cs typeface="Calibri" pitchFamily="34" charset="-120"/>
                        </a:rPr>
                        <a:t>操作性</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991B1B"/>
                          </a:solidFill>
                          <a:latin typeface="Calibri" pitchFamily="34" charset="0"/>
                          <a:ea typeface="Calibri" pitchFamily="34" charset="-122"/>
                          <a:cs typeface="Calibri" pitchFamily="34" charset="-120"/>
                        </a:rPr>
                        <a:t>△ プロンプトスキルが必要。品質にばらつき</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EF2F2"/>
                    </a:solidFill>
                  </a:tcPr>
                </a:tc>
                <a:tc>
                  <a:txBody>
                    <a:bodyPr/>
                    <a:lstStyle/>
                    <a:p>
                      <a:pPr marL="0" indent="0">
                        <a:buNone/>
                      </a:pPr>
                      <a:r>
                        <a:rPr lang="en-US" sz="1000" dirty="0">
                          <a:solidFill>
                            <a:srgbClr val="065F46"/>
                          </a:solidFill>
                          <a:latin typeface="Calibri" pitchFamily="34" charset="0"/>
                          <a:ea typeface="Calibri" pitchFamily="34" charset="-122"/>
                          <a:cs typeface="Calibri" pitchFamily="34" charset="-120"/>
                        </a:rPr>
                        <a:t>◎ 指示に従うだけ。誰でも同一品質</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CFDF5"/>
                    </a:solidFill>
                  </a:tcPr>
                </a:tc>
                <a:extLst>
                  <a:ext uri="{0D108BD9-81ED-4DB2-BD59-A6C34878D82A}">
                    <a16:rowId xmlns:a16="http://schemas.microsoft.com/office/drawing/2014/main" val="10002"/>
                  </a:ext>
                </a:extLst>
              </a:tr>
              <a:tr h="438912">
                <a:tc>
                  <a:txBody>
                    <a:bodyPr/>
                    <a:lstStyle/>
                    <a:p>
                      <a:pPr marL="0" indent="0">
                        <a:buNone/>
                      </a:pPr>
                      <a:r>
                        <a:rPr lang="en-US" sz="1000" b="1" dirty="0">
                          <a:solidFill>
                            <a:srgbClr val="3D4663"/>
                          </a:solidFill>
                          <a:latin typeface="Calibri" pitchFamily="34" charset="0"/>
                          <a:ea typeface="Calibri" pitchFamily="34" charset="-122"/>
                          <a:cs typeface="Calibri" pitchFamily="34" charset="-120"/>
                        </a:rPr>
                        <a:t>出力品質</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5F7FA"/>
                    </a:solidFill>
                  </a:tcPr>
                </a:tc>
                <a:tc>
                  <a:txBody>
                    <a:bodyPr/>
                    <a:lstStyle/>
                    <a:p>
                      <a:pPr marL="0" indent="0">
                        <a:buNone/>
                      </a:pPr>
                      <a:r>
                        <a:rPr lang="en-US" sz="1000" dirty="0">
                          <a:solidFill>
                            <a:srgbClr val="3D4663"/>
                          </a:solidFill>
                          <a:latin typeface="Calibri" pitchFamily="34" charset="0"/>
                          <a:ea typeface="Calibri" pitchFamily="34" charset="-122"/>
                          <a:cs typeface="Calibri" pitchFamily="34" charset="-120"/>
                        </a:rPr>
                        <a:t>△ フォーマット統一に毎回手動調整が必要</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5F7FA"/>
                    </a:solidFill>
                  </a:tcPr>
                </a:tc>
                <a:tc>
                  <a:txBody>
                    <a:bodyPr/>
                    <a:lstStyle/>
                    <a:p>
                      <a:pPr marL="0" indent="0">
                        <a:buNone/>
                      </a:pPr>
                      <a:r>
                        <a:rPr lang="en-US" sz="1000" dirty="0">
                          <a:solidFill>
                            <a:srgbClr val="065F46"/>
                          </a:solidFill>
                          <a:latin typeface="Calibri" pitchFamily="34" charset="0"/>
                          <a:ea typeface="Calibri" pitchFamily="34" charset="-122"/>
                          <a:cs typeface="Calibri" pitchFamily="34" charset="-120"/>
                        </a:rPr>
                        <a:t>◎ FMPJフォーマットを完全再現</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CFDF5"/>
                    </a:solidFill>
                  </a:tcPr>
                </a:tc>
                <a:extLst>
                  <a:ext uri="{0D108BD9-81ED-4DB2-BD59-A6C34878D82A}">
                    <a16:rowId xmlns:a16="http://schemas.microsoft.com/office/drawing/2014/main" val="10003"/>
                  </a:ext>
                </a:extLst>
              </a:tr>
              <a:tr h="438912">
                <a:tc>
                  <a:txBody>
                    <a:bodyPr/>
                    <a:lstStyle/>
                    <a:p>
                      <a:pPr marL="0" indent="0">
                        <a:buNone/>
                      </a:pPr>
                      <a:r>
                        <a:rPr lang="en-US" sz="1000" b="1" dirty="0">
                          <a:solidFill>
                            <a:srgbClr val="3D4663"/>
                          </a:solidFill>
                          <a:latin typeface="Calibri" pitchFamily="34" charset="0"/>
                          <a:ea typeface="Calibri" pitchFamily="34" charset="-122"/>
                          <a:cs typeface="Calibri" pitchFamily="34" charset="-120"/>
                        </a:rPr>
                        <a:t>初期コスト</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3D4663"/>
                          </a:solidFill>
                          <a:latin typeface="Calibri" pitchFamily="34" charset="0"/>
                          <a:ea typeface="Calibri" pitchFamily="34" charset="-122"/>
                          <a:cs typeface="Calibri" pitchFamily="34" charset="-120"/>
                        </a:rPr>
                        <a:t>◎ 無料〜月額数千円</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3D4663"/>
                          </a:solidFill>
                          <a:latin typeface="Calibri" pitchFamily="34" charset="0"/>
                          <a:ea typeface="Calibri" pitchFamily="34" charset="-122"/>
                          <a:cs typeface="Calibri" pitchFamily="34" charset="-120"/>
                        </a:rPr>
                        <a:t>△ 30万円×2ヶ月の開発費（コンサル込み）</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000" b="1" dirty="0">
                          <a:solidFill>
                            <a:srgbClr val="3D4663"/>
                          </a:solidFill>
                          <a:latin typeface="Calibri" pitchFamily="34" charset="0"/>
                          <a:ea typeface="Calibri" pitchFamily="34" charset="-122"/>
                          <a:cs typeface="Calibri" pitchFamily="34" charset="-120"/>
                        </a:rPr>
                        <a:t>運用コスト</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5F7FA"/>
                    </a:solidFill>
                  </a:tcPr>
                </a:tc>
                <a:tc>
                  <a:txBody>
                    <a:bodyPr/>
                    <a:lstStyle/>
                    <a:p>
                      <a:pPr marL="0" indent="0">
                        <a:buNone/>
                      </a:pPr>
                      <a:r>
                        <a:rPr lang="en-US" sz="1000" dirty="0">
                          <a:solidFill>
                            <a:srgbClr val="991B1B"/>
                          </a:solidFill>
                          <a:latin typeface="Calibri" pitchFamily="34" charset="0"/>
                          <a:ea typeface="Calibri" pitchFamily="34" charset="-122"/>
                          <a:cs typeface="Calibri" pitchFamily="34" charset="-120"/>
                        </a:rPr>
                        <a:t>△ 人件費・手戻り工数が継続的に発生</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EF2F2"/>
                    </a:solidFill>
                  </a:tcPr>
                </a:tc>
                <a:tc>
                  <a:txBody>
                    <a:bodyPr/>
                    <a:lstStyle/>
                    <a:p>
                      <a:pPr marL="0" indent="0">
                        <a:buNone/>
                      </a:pPr>
                      <a:r>
                        <a:rPr lang="en-US" sz="1000" dirty="0">
                          <a:solidFill>
                            <a:srgbClr val="065F46"/>
                          </a:solidFill>
                          <a:latin typeface="Calibri" pitchFamily="34" charset="0"/>
                          <a:ea typeface="Calibri" pitchFamily="34" charset="-122"/>
                          <a:cs typeface="Calibri" pitchFamily="34" charset="-120"/>
                        </a:rPr>
                        <a:t>◎ 月額3万円（API・保守すべて込み）</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CFDF5"/>
                    </a:solidFill>
                  </a:tcPr>
                </a:tc>
                <a:extLst>
                  <a:ext uri="{0D108BD9-81ED-4DB2-BD59-A6C34878D82A}">
                    <a16:rowId xmlns:a16="http://schemas.microsoft.com/office/drawing/2014/main" val="10005"/>
                  </a:ext>
                </a:extLst>
              </a:tr>
              <a:tr h="438912">
                <a:tc>
                  <a:txBody>
                    <a:bodyPr/>
                    <a:lstStyle/>
                    <a:p>
                      <a:pPr marL="0" indent="0">
                        <a:buNone/>
                      </a:pPr>
                      <a:r>
                        <a:rPr lang="en-US" sz="1000" b="1" dirty="0">
                          <a:solidFill>
                            <a:srgbClr val="3D4663"/>
                          </a:solidFill>
                          <a:latin typeface="Calibri" pitchFamily="34" charset="0"/>
                          <a:ea typeface="Calibri" pitchFamily="34" charset="-122"/>
                          <a:cs typeface="Calibri" pitchFamily="34" charset="-120"/>
                        </a:rPr>
                        <a:t>組織リスク</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991B1B"/>
                          </a:solidFill>
                          <a:latin typeface="Calibri" pitchFamily="34" charset="0"/>
                          <a:ea typeface="Calibri" pitchFamily="34" charset="-122"/>
                          <a:cs typeface="Calibri" pitchFamily="34" charset="-120"/>
                        </a:rPr>
                        <a:t>× 使える人が辞めると元に戻る</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EF2F2"/>
                    </a:solidFill>
                  </a:tcPr>
                </a:tc>
                <a:tc>
                  <a:txBody>
                    <a:bodyPr/>
                    <a:lstStyle/>
                    <a:p>
                      <a:pPr marL="0" indent="0">
                        <a:buNone/>
                      </a:pPr>
                      <a:r>
                        <a:rPr lang="en-US" sz="1000" dirty="0">
                          <a:solidFill>
                            <a:srgbClr val="065F46"/>
                          </a:solidFill>
                          <a:latin typeface="Calibri" pitchFamily="34" charset="0"/>
                          <a:ea typeface="Calibri" pitchFamily="34" charset="-122"/>
                          <a:cs typeface="Calibri" pitchFamily="34" charset="-120"/>
                        </a:rPr>
                        <a:t>◎ ツールにノウハウ蓄積。人事異動にも耐性</a:t>
                      </a:r>
                      <a:endParaRPr lang="en-US" sz="1000" dirty="0">
                        <a:latin typeface="Calibri" charset="0"/>
                        <a:ea typeface="Calibri" charset="0"/>
                        <a:cs typeface="Calibri" charset="0"/>
                      </a:endParaRPr>
                    </a:p>
                  </a:txBody>
                  <a:tcPr marL="76200" marR="76200" marT="50800" marB="5080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CFDF5"/>
                    </a:solidFill>
                  </a:tcPr>
                </a:tc>
                <a:extLst>
                  <a:ext uri="{0D108BD9-81ED-4DB2-BD59-A6C34878D82A}">
                    <a16:rowId xmlns:a16="http://schemas.microsoft.com/office/drawing/2014/main" val="10006"/>
                  </a:ext>
                </a:extLst>
              </a:tr>
            </a:tbl>
          </a:graphicData>
        </a:graphic>
      </p:graphicFrame>
      <p:sp>
        <p:nvSpPr>
          <p:cNvPr id="5" name="Text 2"/>
          <p:cNvSpPr/>
          <p:nvPr/>
        </p:nvSpPr>
        <p:spPr>
          <a:xfrm>
            <a:off x="731520" y="4434840"/>
            <a:ext cx="7680960" cy="274320"/>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初期コストだけを見ると汎用AIが有利ですが、TCO（総保有コスト）で見ると専用ツールが圧倒的に優位です。</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A1F36"/>
                </a:solidFill>
                <a:latin typeface="Calibri" pitchFamily="34" charset="0"/>
                <a:ea typeface="Calibri" pitchFamily="34" charset="-122"/>
                <a:cs typeface="Calibri" pitchFamily="34" charset="-120"/>
              </a:rPr>
              <a:t>費用・導入ロードマップ</a:t>
            </a:r>
            <a:endParaRPr lang="en-US" sz="2800" dirty="0"/>
          </a:p>
        </p:txBody>
      </p:sp>
      <p:sp>
        <p:nvSpPr>
          <p:cNvPr id="4" name="Shape 2"/>
          <p:cNvSpPr/>
          <p:nvPr/>
        </p:nvSpPr>
        <p:spPr>
          <a:xfrm>
            <a:off x="731520" y="1051560"/>
            <a:ext cx="3657600" cy="3611880"/>
          </a:xfrm>
          <a:prstGeom prst="rect">
            <a:avLst/>
          </a:prstGeom>
          <a:solidFill>
            <a:srgbClr val="1E2761"/>
          </a:solidFill>
          <a:ln/>
          <a:effectLst>
            <a:outerShdw blurRad="76200" dist="25400" dir="8100000" algn="bl" rotWithShape="0">
              <a:srgbClr val="000000">
                <a:alpha val="10000"/>
              </a:srgbClr>
            </a:outerShdw>
          </a:effectLst>
        </p:spPr>
      </p:sp>
      <p:sp>
        <p:nvSpPr>
          <p:cNvPr id="5" name="Text 3"/>
          <p:cNvSpPr/>
          <p:nvPr/>
        </p:nvSpPr>
        <p:spPr>
          <a:xfrm>
            <a:off x="1005840" y="1188720"/>
            <a:ext cx="1371600" cy="274320"/>
          </a:xfrm>
          <a:prstGeom prst="rect">
            <a:avLst/>
          </a:prstGeom>
          <a:noFill/>
          <a:ln/>
        </p:spPr>
        <p:txBody>
          <a:bodyPr wrap="square" lIns="0" tIns="0" rIns="0" bIns="0" rtlCol="0" anchor="ctr"/>
          <a:lstStyle/>
          <a:p>
            <a:pPr marL="0" indent="0">
              <a:buNone/>
            </a:pPr>
            <a:r>
              <a:rPr lang="en-US" sz="1100" b="1" dirty="0">
                <a:solidFill>
                  <a:srgbClr val="3B82F6"/>
                </a:solidFill>
                <a:latin typeface="Calibri" pitchFamily="34" charset="0"/>
                <a:ea typeface="Calibri" pitchFamily="34" charset="-122"/>
                <a:cs typeface="Calibri" pitchFamily="34" charset="-120"/>
              </a:rPr>
              <a:t>Phase 1</a:t>
            </a:r>
            <a:endParaRPr lang="en-US" sz="1100" dirty="0"/>
          </a:p>
        </p:txBody>
      </p:sp>
      <p:pic>
        <p:nvPicPr>
          <p:cNvPr id="6" name="Image 0" descr="preencoded.png"/>
          <p:cNvPicPr>
            <a:picLocks noChangeAspect="1"/>
          </p:cNvPicPr>
          <p:nvPr/>
        </p:nvPicPr>
        <p:blipFill>
          <a:blip r:embed="rId3"/>
          <a:stretch>
            <a:fillRect/>
          </a:stretch>
        </p:blipFill>
        <p:spPr>
          <a:xfrm>
            <a:off x="3611880" y="1188720"/>
            <a:ext cx="274320" cy="274320"/>
          </a:xfrm>
          <a:prstGeom prst="rect">
            <a:avLst/>
          </a:prstGeom>
        </p:spPr>
      </p:pic>
      <p:sp>
        <p:nvSpPr>
          <p:cNvPr id="7" name="Text 4"/>
          <p:cNvSpPr/>
          <p:nvPr/>
        </p:nvSpPr>
        <p:spPr>
          <a:xfrm>
            <a:off x="1005840" y="1508760"/>
            <a:ext cx="30175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開発＋ブラッシュアップ</a:t>
            </a:r>
            <a:endParaRPr lang="en-US" sz="1800" dirty="0"/>
          </a:p>
        </p:txBody>
      </p:sp>
      <p:sp>
        <p:nvSpPr>
          <p:cNvPr id="8" name="Text 5"/>
          <p:cNvSpPr/>
          <p:nvPr/>
        </p:nvSpPr>
        <p:spPr>
          <a:xfrm>
            <a:off x="1005840" y="1874520"/>
            <a:ext cx="3017520" cy="27432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2ヶ月間</a:t>
            </a:r>
            <a:endParaRPr lang="en-US" sz="1300" dirty="0"/>
          </a:p>
        </p:txBody>
      </p:sp>
      <p:pic>
        <p:nvPicPr>
          <p:cNvPr id="9" name="Image 1" descr="preencoded.png"/>
          <p:cNvPicPr>
            <a:picLocks noChangeAspect="1"/>
          </p:cNvPicPr>
          <p:nvPr/>
        </p:nvPicPr>
        <p:blipFill>
          <a:blip r:embed="rId4"/>
          <a:stretch>
            <a:fillRect/>
          </a:stretch>
        </p:blipFill>
        <p:spPr>
          <a:xfrm>
            <a:off x="1005840" y="2286000"/>
            <a:ext cx="182880" cy="182880"/>
          </a:xfrm>
          <a:prstGeom prst="rect">
            <a:avLst/>
          </a:prstGeom>
        </p:spPr>
      </p:pic>
      <p:sp>
        <p:nvSpPr>
          <p:cNvPr id="10" name="Text 6"/>
          <p:cNvSpPr/>
          <p:nvPr/>
        </p:nvSpPr>
        <p:spPr>
          <a:xfrm>
            <a:off x="1325880" y="2267712"/>
            <a:ext cx="2834640" cy="256032"/>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デモをベースにFMPJ仕様へカスタマイズ</a:t>
            </a:r>
            <a:endParaRPr lang="en-US" sz="1000" dirty="0"/>
          </a:p>
        </p:txBody>
      </p:sp>
      <p:pic>
        <p:nvPicPr>
          <p:cNvPr id="11" name="Image 2" descr="preencoded.png"/>
          <p:cNvPicPr>
            <a:picLocks noChangeAspect="1"/>
          </p:cNvPicPr>
          <p:nvPr/>
        </p:nvPicPr>
        <p:blipFill>
          <a:blip r:embed="rId4"/>
          <a:stretch>
            <a:fillRect/>
          </a:stretch>
        </p:blipFill>
        <p:spPr>
          <a:xfrm>
            <a:off x="1005840" y="2606040"/>
            <a:ext cx="182880" cy="182880"/>
          </a:xfrm>
          <a:prstGeom prst="rect">
            <a:avLst/>
          </a:prstGeom>
        </p:spPr>
      </p:pic>
      <p:sp>
        <p:nvSpPr>
          <p:cNvPr id="12" name="Text 7"/>
          <p:cNvSpPr/>
          <p:nvPr/>
        </p:nvSpPr>
        <p:spPr>
          <a:xfrm>
            <a:off x="1325880" y="2587752"/>
            <a:ext cx="2834640" cy="256032"/>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既存の手動議事録と並行運用で精度検証</a:t>
            </a:r>
            <a:endParaRPr lang="en-US" sz="1000" dirty="0"/>
          </a:p>
        </p:txBody>
      </p:sp>
      <p:pic>
        <p:nvPicPr>
          <p:cNvPr id="13" name="Image 3" descr="preencoded.png"/>
          <p:cNvPicPr>
            <a:picLocks noChangeAspect="1"/>
          </p:cNvPicPr>
          <p:nvPr/>
        </p:nvPicPr>
        <p:blipFill>
          <a:blip r:embed="rId4"/>
          <a:stretch>
            <a:fillRect/>
          </a:stretch>
        </p:blipFill>
        <p:spPr>
          <a:xfrm>
            <a:off x="1005840" y="2926080"/>
            <a:ext cx="182880" cy="182880"/>
          </a:xfrm>
          <a:prstGeom prst="rect">
            <a:avLst/>
          </a:prstGeom>
        </p:spPr>
      </p:pic>
      <p:sp>
        <p:nvSpPr>
          <p:cNvPr id="14" name="Text 8"/>
          <p:cNvSpPr/>
          <p:nvPr/>
        </p:nvSpPr>
        <p:spPr>
          <a:xfrm>
            <a:off x="1325880" y="2907792"/>
            <a:ext cx="2834640" cy="256032"/>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隔週ミーティングで機能要望をすり合わせ</a:t>
            </a:r>
            <a:endParaRPr lang="en-US" sz="1000" dirty="0"/>
          </a:p>
        </p:txBody>
      </p:sp>
      <p:pic>
        <p:nvPicPr>
          <p:cNvPr id="15" name="Image 4" descr="preencoded.png"/>
          <p:cNvPicPr>
            <a:picLocks noChangeAspect="1"/>
          </p:cNvPicPr>
          <p:nvPr/>
        </p:nvPicPr>
        <p:blipFill>
          <a:blip r:embed="rId4"/>
          <a:stretch>
            <a:fillRect/>
          </a:stretch>
        </p:blipFill>
        <p:spPr>
          <a:xfrm>
            <a:off x="1005840" y="3246120"/>
            <a:ext cx="182880" cy="182880"/>
          </a:xfrm>
          <a:prstGeom prst="rect">
            <a:avLst/>
          </a:prstGeom>
        </p:spPr>
      </p:pic>
      <p:sp>
        <p:nvSpPr>
          <p:cNvPr id="16" name="Text 9"/>
          <p:cNvSpPr/>
          <p:nvPr/>
        </p:nvSpPr>
        <p:spPr>
          <a:xfrm>
            <a:off x="1325880" y="3227832"/>
            <a:ext cx="2834640" cy="256032"/>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チャットサポートで随時フィードバック対応</a:t>
            </a:r>
            <a:endParaRPr lang="en-US" sz="1000" dirty="0"/>
          </a:p>
        </p:txBody>
      </p:sp>
      <p:pic>
        <p:nvPicPr>
          <p:cNvPr id="17" name="Image 5" descr="preencoded.png"/>
          <p:cNvPicPr>
            <a:picLocks noChangeAspect="1"/>
          </p:cNvPicPr>
          <p:nvPr/>
        </p:nvPicPr>
        <p:blipFill>
          <a:blip r:embed="rId4"/>
          <a:stretch>
            <a:fillRect/>
          </a:stretch>
        </p:blipFill>
        <p:spPr>
          <a:xfrm>
            <a:off x="1005840" y="3566160"/>
            <a:ext cx="182880" cy="182880"/>
          </a:xfrm>
          <a:prstGeom prst="rect">
            <a:avLst/>
          </a:prstGeom>
        </p:spPr>
      </p:pic>
      <p:sp>
        <p:nvSpPr>
          <p:cNvPr id="18" name="Text 10"/>
          <p:cNvSpPr/>
          <p:nvPr/>
        </p:nvSpPr>
        <p:spPr>
          <a:xfrm>
            <a:off x="1325880" y="3547872"/>
            <a:ext cx="2834640" cy="256032"/>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ツール開発＋運用コンサルティング込み</a:t>
            </a:r>
            <a:endParaRPr lang="en-US" sz="1000" dirty="0"/>
          </a:p>
        </p:txBody>
      </p:sp>
      <p:sp>
        <p:nvSpPr>
          <p:cNvPr id="19" name="Shape 11"/>
          <p:cNvSpPr/>
          <p:nvPr/>
        </p:nvSpPr>
        <p:spPr>
          <a:xfrm>
            <a:off x="1005840" y="3977640"/>
            <a:ext cx="3108960" cy="502920"/>
          </a:xfrm>
          <a:prstGeom prst="rect">
            <a:avLst/>
          </a:prstGeom>
          <a:solidFill>
            <a:srgbClr val="3B82F6"/>
          </a:solidFill>
          <a:ln/>
        </p:spPr>
      </p:sp>
      <p:sp>
        <p:nvSpPr>
          <p:cNvPr id="20" name="Text 12"/>
          <p:cNvSpPr/>
          <p:nvPr/>
        </p:nvSpPr>
        <p:spPr>
          <a:xfrm>
            <a:off x="1005840" y="3977640"/>
            <a:ext cx="310896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月額 30万円 × 2ヶ月 = 60万円</a:t>
            </a:r>
            <a:endParaRPr lang="en-US" sz="1500" dirty="0"/>
          </a:p>
        </p:txBody>
      </p:sp>
      <p:pic>
        <p:nvPicPr>
          <p:cNvPr id="21" name="Image 6" descr="preencoded.png"/>
          <p:cNvPicPr>
            <a:picLocks noChangeAspect="1"/>
          </p:cNvPicPr>
          <p:nvPr/>
        </p:nvPicPr>
        <p:blipFill>
          <a:blip r:embed="rId5"/>
          <a:stretch>
            <a:fillRect/>
          </a:stretch>
        </p:blipFill>
        <p:spPr>
          <a:xfrm>
            <a:off x="4526280" y="2651760"/>
            <a:ext cx="320040" cy="320040"/>
          </a:xfrm>
          <a:prstGeom prst="rect">
            <a:avLst/>
          </a:prstGeom>
        </p:spPr>
      </p:pic>
      <p:sp>
        <p:nvSpPr>
          <p:cNvPr id="22" name="Shape 13"/>
          <p:cNvSpPr/>
          <p:nvPr/>
        </p:nvSpPr>
        <p:spPr>
          <a:xfrm>
            <a:off x="5029200" y="1051560"/>
            <a:ext cx="3474720" cy="3611880"/>
          </a:xfrm>
          <a:prstGeom prst="rect">
            <a:avLst/>
          </a:prstGeom>
          <a:solidFill>
            <a:srgbClr val="F5F7FA"/>
          </a:solidFill>
          <a:ln/>
          <a:effectLst>
            <a:outerShdw blurRad="76200" dist="25400" dir="8100000" algn="bl" rotWithShape="0">
              <a:srgbClr val="000000">
                <a:alpha val="10000"/>
              </a:srgbClr>
            </a:outerShdw>
          </a:effectLst>
        </p:spPr>
      </p:sp>
      <p:sp>
        <p:nvSpPr>
          <p:cNvPr id="23" name="Shape 14"/>
          <p:cNvSpPr/>
          <p:nvPr/>
        </p:nvSpPr>
        <p:spPr>
          <a:xfrm>
            <a:off x="5029200" y="1051560"/>
            <a:ext cx="3474720" cy="45720"/>
          </a:xfrm>
          <a:prstGeom prst="rect">
            <a:avLst/>
          </a:prstGeom>
          <a:solidFill>
            <a:srgbClr val="10B981"/>
          </a:solidFill>
          <a:ln/>
        </p:spPr>
      </p:sp>
      <p:sp>
        <p:nvSpPr>
          <p:cNvPr id="24" name="Text 15"/>
          <p:cNvSpPr/>
          <p:nvPr/>
        </p:nvSpPr>
        <p:spPr>
          <a:xfrm>
            <a:off x="5303520" y="1280160"/>
            <a:ext cx="1371600" cy="274320"/>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Phase 2</a:t>
            </a:r>
            <a:endParaRPr lang="en-US" sz="1100" dirty="0"/>
          </a:p>
        </p:txBody>
      </p:sp>
      <p:sp>
        <p:nvSpPr>
          <p:cNvPr id="25" name="Text 16"/>
          <p:cNvSpPr/>
          <p:nvPr/>
        </p:nvSpPr>
        <p:spPr>
          <a:xfrm>
            <a:off x="5303520" y="1600200"/>
            <a:ext cx="2926080" cy="365760"/>
          </a:xfrm>
          <a:prstGeom prst="rect">
            <a:avLst/>
          </a:prstGeom>
          <a:noFill/>
          <a:ln/>
        </p:spPr>
        <p:txBody>
          <a:bodyPr wrap="square" lIns="0" tIns="0" rIns="0" bIns="0" rtlCol="0" anchor="ctr"/>
          <a:lstStyle/>
          <a:p>
            <a:pPr marL="0" indent="0">
              <a:buNone/>
            </a:pPr>
            <a:r>
              <a:rPr lang="en-US" sz="1800" b="1" dirty="0">
                <a:solidFill>
                  <a:srgbClr val="1A1F36"/>
                </a:solidFill>
                <a:latin typeface="Calibri" pitchFamily="34" charset="0"/>
                <a:ea typeface="Calibri" pitchFamily="34" charset="-122"/>
                <a:cs typeface="Calibri" pitchFamily="34" charset="-120"/>
              </a:rPr>
              <a:t>本番運用</a:t>
            </a:r>
            <a:endParaRPr lang="en-US" sz="1800" dirty="0"/>
          </a:p>
        </p:txBody>
      </p:sp>
      <p:sp>
        <p:nvSpPr>
          <p:cNvPr id="26" name="Text 17"/>
          <p:cNvSpPr/>
          <p:nvPr/>
        </p:nvSpPr>
        <p:spPr>
          <a:xfrm>
            <a:off x="5303520" y="1965960"/>
            <a:ext cx="2926080" cy="274320"/>
          </a:xfrm>
          <a:prstGeom prst="rect">
            <a:avLst/>
          </a:prstGeom>
          <a:noFill/>
          <a:ln/>
        </p:spPr>
        <p:txBody>
          <a:bodyPr wrap="square" lIns="0" tIns="0" rIns="0" bIns="0" rtlCol="0" anchor="ctr"/>
          <a:lstStyle/>
          <a:p>
            <a:pPr marL="0" indent="0">
              <a:buNone/>
            </a:pPr>
            <a:r>
              <a:rPr lang="en-US" sz="1300" dirty="0">
                <a:solidFill>
                  <a:srgbClr val="3D4663"/>
                </a:solidFill>
                <a:latin typeface="Calibri" pitchFamily="34" charset="0"/>
                <a:ea typeface="Calibri" pitchFamily="34" charset="-122"/>
                <a:cs typeface="Calibri" pitchFamily="34" charset="-120"/>
              </a:rPr>
              <a:t>3ヶ月目〜</a:t>
            </a:r>
            <a:endParaRPr lang="en-US" sz="1300" dirty="0"/>
          </a:p>
        </p:txBody>
      </p:sp>
      <p:pic>
        <p:nvPicPr>
          <p:cNvPr id="27" name="Image 7" descr="preencoded.png"/>
          <p:cNvPicPr>
            <a:picLocks noChangeAspect="1"/>
          </p:cNvPicPr>
          <p:nvPr/>
        </p:nvPicPr>
        <p:blipFill>
          <a:blip r:embed="rId6"/>
          <a:stretch>
            <a:fillRect/>
          </a:stretch>
        </p:blipFill>
        <p:spPr>
          <a:xfrm>
            <a:off x="5303520" y="2423160"/>
            <a:ext cx="182880" cy="182880"/>
          </a:xfrm>
          <a:prstGeom prst="rect">
            <a:avLst/>
          </a:prstGeom>
        </p:spPr>
      </p:pic>
      <p:sp>
        <p:nvSpPr>
          <p:cNvPr id="28" name="Text 18"/>
          <p:cNvSpPr/>
          <p:nvPr/>
        </p:nvSpPr>
        <p:spPr>
          <a:xfrm>
            <a:off x="5623560" y="2404872"/>
            <a:ext cx="2651760" cy="256032"/>
          </a:xfrm>
          <a:prstGeom prst="rect">
            <a:avLst/>
          </a:prstGeom>
          <a:noFill/>
          <a:ln/>
        </p:spPr>
        <p:txBody>
          <a:bodyPr wrap="square" lIns="0" tIns="0" rIns="0" bIns="0" rtlCol="0" anchor="ctr"/>
          <a:lstStyle/>
          <a:p>
            <a:pPr marL="0" indent="0">
              <a:buNone/>
            </a:pPr>
            <a:r>
              <a:rPr lang="en-US" sz="1000" dirty="0">
                <a:solidFill>
                  <a:srgbClr val="3D4663"/>
                </a:solidFill>
                <a:latin typeface="Calibri" pitchFamily="34" charset="0"/>
                <a:ea typeface="Calibri" pitchFamily="34" charset="-122"/>
                <a:cs typeface="Calibri" pitchFamily="34" charset="-120"/>
              </a:rPr>
              <a:t>手動議事録から完全移行</a:t>
            </a:r>
            <a:endParaRPr lang="en-US" sz="1000" dirty="0"/>
          </a:p>
        </p:txBody>
      </p:sp>
      <p:pic>
        <p:nvPicPr>
          <p:cNvPr id="29" name="Image 8" descr="preencoded.png"/>
          <p:cNvPicPr>
            <a:picLocks noChangeAspect="1"/>
          </p:cNvPicPr>
          <p:nvPr/>
        </p:nvPicPr>
        <p:blipFill>
          <a:blip r:embed="rId6"/>
          <a:stretch>
            <a:fillRect/>
          </a:stretch>
        </p:blipFill>
        <p:spPr>
          <a:xfrm>
            <a:off x="5303520" y="2770632"/>
            <a:ext cx="182880" cy="182880"/>
          </a:xfrm>
          <a:prstGeom prst="rect">
            <a:avLst/>
          </a:prstGeom>
        </p:spPr>
      </p:pic>
      <p:sp>
        <p:nvSpPr>
          <p:cNvPr id="30" name="Text 19"/>
          <p:cNvSpPr/>
          <p:nvPr/>
        </p:nvSpPr>
        <p:spPr>
          <a:xfrm>
            <a:off x="5623560" y="2752344"/>
            <a:ext cx="2651760" cy="256032"/>
          </a:xfrm>
          <a:prstGeom prst="rect">
            <a:avLst/>
          </a:prstGeom>
          <a:noFill/>
          <a:ln/>
        </p:spPr>
        <p:txBody>
          <a:bodyPr wrap="square" lIns="0" tIns="0" rIns="0" bIns="0" rtlCol="0" anchor="ctr"/>
          <a:lstStyle/>
          <a:p>
            <a:pPr marL="0" indent="0">
              <a:buNone/>
            </a:pPr>
            <a:r>
              <a:rPr lang="en-US" sz="1000" dirty="0">
                <a:solidFill>
                  <a:srgbClr val="3D4663"/>
                </a:solidFill>
                <a:latin typeface="Calibri" pitchFamily="34" charset="0"/>
                <a:ea typeface="Calibri" pitchFamily="34" charset="-122"/>
                <a:cs typeface="Calibri" pitchFamily="34" charset="-120"/>
              </a:rPr>
              <a:t>API利用料込み</a:t>
            </a:r>
            <a:endParaRPr lang="en-US" sz="1000" dirty="0"/>
          </a:p>
        </p:txBody>
      </p:sp>
      <p:pic>
        <p:nvPicPr>
          <p:cNvPr id="31" name="Image 9" descr="preencoded.png"/>
          <p:cNvPicPr>
            <a:picLocks noChangeAspect="1"/>
          </p:cNvPicPr>
          <p:nvPr/>
        </p:nvPicPr>
        <p:blipFill>
          <a:blip r:embed="rId6"/>
          <a:stretch>
            <a:fillRect/>
          </a:stretch>
        </p:blipFill>
        <p:spPr>
          <a:xfrm>
            <a:off x="5303520" y="3118104"/>
            <a:ext cx="182880" cy="182880"/>
          </a:xfrm>
          <a:prstGeom prst="rect">
            <a:avLst/>
          </a:prstGeom>
        </p:spPr>
      </p:pic>
      <p:sp>
        <p:nvSpPr>
          <p:cNvPr id="32" name="Text 20"/>
          <p:cNvSpPr/>
          <p:nvPr/>
        </p:nvSpPr>
        <p:spPr>
          <a:xfrm>
            <a:off x="5623560" y="3099816"/>
            <a:ext cx="2651760" cy="256032"/>
          </a:xfrm>
          <a:prstGeom prst="rect">
            <a:avLst/>
          </a:prstGeom>
          <a:noFill/>
          <a:ln/>
        </p:spPr>
        <p:txBody>
          <a:bodyPr wrap="square" lIns="0" tIns="0" rIns="0" bIns="0" rtlCol="0" anchor="ctr"/>
          <a:lstStyle/>
          <a:p>
            <a:pPr marL="0" indent="0">
              <a:buNone/>
            </a:pPr>
            <a:r>
              <a:rPr lang="en-US" sz="1000" dirty="0">
                <a:solidFill>
                  <a:srgbClr val="3D4663"/>
                </a:solidFill>
                <a:latin typeface="Calibri" pitchFamily="34" charset="0"/>
                <a:ea typeface="Calibri" pitchFamily="34" charset="-122"/>
                <a:cs typeface="Calibri" pitchFamily="34" charset="-120"/>
              </a:rPr>
              <a:t>運用保守・フォーマット変更対応</a:t>
            </a:r>
            <a:endParaRPr lang="en-US" sz="1000" dirty="0"/>
          </a:p>
        </p:txBody>
      </p:sp>
      <p:pic>
        <p:nvPicPr>
          <p:cNvPr id="33" name="Image 10" descr="preencoded.png"/>
          <p:cNvPicPr>
            <a:picLocks noChangeAspect="1"/>
          </p:cNvPicPr>
          <p:nvPr/>
        </p:nvPicPr>
        <p:blipFill>
          <a:blip r:embed="rId6"/>
          <a:stretch>
            <a:fillRect/>
          </a:stretch>
        </p:blipFill>
        <p:spPr>
          <a:xfrm>
            <a:off x="5303520" y="3465576"/>
            <a:ext cx="182880" cy="182880"/>
          </a:xfrm>
          <a:prstGeom prst="rect">
            <a:avLst/>
          </a:prstGeom>
        </p:spPr>
      </p:pic>
      <p:sp>
        <p:nvSpPr>
          <p:cNvPr id="34" name="Text 21"/>
          <p:cNvSpPr/>
          <p:nvPr/>
        </p:nvSpPr>
        <p:spPr>
          <a:xfrm>
            <a:off x="5623560" y="3447288"/>
            <a:ext cx="2651760" cy="256032"/>
          </a:xfrm>
          <a:prstGeom prst="rect">
            <a:avLst/>
          </a:prstGeom>
          <a:noFill/>
          <a:ln/>
        </p:spPr>
        <p:txBody>
          <a:bodyPr wrap="square" lIns="0" tIns="0" rIns="0" bIns="0" rtlCol="0" anchor="ctr"/>
          <a:lstStyle/>
          <a:p>
            <a:pPr marL="0" indent="0">
              <a:buNone/>
            </a:pPr>
            <a:r>
              <a:rPr lang="en-US" sz="1000" dirty="0">
                <a:solidFill>
                  <a:srgbClr val="3D4663"/>
                </a:solidFill>
                <a:latin typeface="Calibri" pitchFamily="34" charset="0"/>
                <a:ea typeface="Calibri" pitchFamily="34" charset="-122"/>
                <a:cs typeface="Calibri" pitchFamily="34" charset="-120"/>
              </a:rPr>
              <a:t>AIモデルアップデート対応</a:t>
            </a:r>
            <a:endParaRPr lang="en-US" sz="1000" dirty="0"/>
          </a:p>
        </p:txBody>
      </p:sp>
      <p:sp>
        <p:nvSpPr>
          <p:cNvPr id="35" name="Shape 22"/>
          <p:cNvSpPr/>
          <p:nvPr/>
        </p:nvSpPr>
        <p:spPr>
          <a:xfrm>
            <a:off x="5303520" y="3977640"/>
            <a:ext cx="2926080" cy="502920"/>
          </a:xfrm>
          <a:prstGeom prst="rect">
            <a:avLst/>
          </a:prstGeom>
          <a:solidFill>
            <a:srgbClr val="10B981"/>
          </a:solidFill>
          <a:ln/>
        </p:spPr>
      </p:sp>
      <p:sp>
        <p:nvSpPr>
          <p:cNvPr id="36" name="Text 23"/>
          <p:cNvSpPr/>
          <p:nvPr/>
        </p:nvSpPr>
        <p:spPr>
          <a:xfrm>
            <a:off x="5303520" y="3977640"/>
            <a:ext cx="29260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月額 3万円（すべて込み）</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A1F36"/>
                </a:solidFill>
                <a:latin typeface="Calibri" pitchFamily="34" charset="0"/>
                <a:ea typeface="Calibri" pitchFamily="34" charset="-122"/>
                <a:cs typeface="Calibri" pitchFamily="34" charset="-120"/>
              </a:rPr>
              <a:t>初期導入機器のご案内</a:t>
            </a:r>
            <a:endParaRPr lang="en-US" sz="2800" dirty="0"/>
          </a:p>
        </p:txBody>
      </p:sp>
      <p:sp>
        <p:nvSpPr>
          <p:cNvPr id="4" name="Text 2"/>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3D4663"/>
                </a:solidFill>
                <a:latin typeface="Calibri" pitchFamily="34" charset="0"/>
                <a:ea typeface="Calibri" pitchFamily="34" charset="-122"/>
                <a:cs typeface="Calibri" pitchFamily="34" charset="-120"/>
              </a:rPr>
              <a:t>AI議事録収集アプリケーション</a:t>
            </a:r>
            <a:endParaRPr lang="en-US" sz="1300" dirty="0"/>
          </a:p>
        </p:txBody>
      </p:sp>
      <p:pic>
        <p:nvPicPr>
          <p:cNvPr id="5" name="Image 0" descr="/home/claude/plaud.png"/>
          <p:cNvPicPr>
            <a:picLocks noChangeAspect="1"/>
          </p:cNvPicPr>
          <p:nvPr/>
        </p:nvPicPr>
        <p:blipFill>
          <a:blip r:embed="rId3"/>
          <a:srcRect/>
          <a:stretch/>
        </p:blipFill>
        <p:spPr>
          <a:xfrm>
            <a:off x="457200" y="1371600"/>
            <a:ext cx="3840480" cy="3840480"/>
          </a:xfrm>
          <a:prstGeom prst="rect">
            <a:avLst/>
          </a:prstGeom>
        </p:spPr>
      </p:pic>
      <p:sp>
        <p:nvSpPr>
          <p:cNvPr id="6" name="Shape 3"/>
          <p:cNvSpPr/>
          <p:nvPr/>
        </p:nvSpPr>
        <p:spPr>
          <a:xfrm>
            <a:off x="4572000" y="1371600"/>
            <a:ext cx="4114800" cy="3200400"/>
          </a:xfrm>
          <a:prstGeom prst="rect">
            <a:avLst/>
          </a:prstGeom>
          <a:solidFill>
            <a:srgbClr val="F5F7FA"/>
          </a:solidFill>
          <a:ln/>
          <a:effectLst>
            <a:outerShdw blurRad="76200" dist="25400" dir="8100000" algn="bl" rotWithShape="0">
              <a:srgbClr val="000000">
                <a:alpha val="10000"/>
              </a:srgbClr>
            </a:outerShdw>
          </a:effectLst>
        </p:spPr>
      </p:sp>
      <p:sp>
        <p:nvSpPr>
          <p:cNvPr id="7" name="Shape 4"/>
          <p:cNvSpPr/>
          <p:nvPr/>
        </p:nvSpPr>
        <p:spPr>
          <a:xfrm>
            <a:off x="4572000" y="1371600"/>
            <a:ext cx="64008" cy="3200400"/>
          </a:xfrm>
          <a:prstGeom prst="rect">
            <a:avLst/>
          </a:prstGeom>
          <a:solidFill>
            <a:srgbClr val="3B82F6"/>
          </a:solidFill>
          <a:ln/>
        </p:spPr>
      </p:sp>
      <p:sp>
        <p:nvSpPr>
          <p:cNvPr id="8" name="Text 5"/>
          <p:cNvSpPr/>
          <p:nvPr/>
        </p:nvSpPr>
        <p:spPr>
          <a:xfrm>
            <a:off x="4892040" y="1508760"/>
            <a:ext cx="3566160" cy="365760"/>
          </a:xfrm>
          <a:prstGeom prst="rect">
            <a:avLst/>
          </a:prstGeom>
          <a:noFill/>
          <a:ln/>
        </p:spPr>
        <p:txBody>
          <a:bodyPr wrap="square" lIns="0" tIns="0" rIns="0" bIns="0" rtlCol="0" anchor="ctr"/>
          <a:lstStyle/>
          <a:p>
            <a:pPr marL="0" indent="0">
              <a:buNone/>
            </a:pPr>
            <a:r>
              <a:rPr lang="en-US" sz="2000" b="1" dirty="0">
                <a:solidFill>
                  <a:srgbClr val="1A1F36"/>
                </a:solidFill>
                <a:latin typeface="Calibri" pitchFamily="34" charset="0"/>
                <a:ea typeface="Calibri" pitchFamily="34" charset="-122"/>
                <a:cs typeface="Calibri" pitchFamily="34" charset="-120"/>
              </a:rPr>
              <a:t>PLAUD Note Pro</a:t>
            </a:r>
            <a:endParaRPr lang="en-US" sz="2000" dirty="0"/>
          </a:p>
        </p:txBody>
      </p:sp>
      <p:sp>
        <p:nvSpPr>
          <p:cNvPr id="9" name="Text 6"/>
          <p:cNvSpPr/>
          <p:nvPr/>
        </p:nvSpPr>
        <p:spPr>
          <a:xfrm>
            <a:off x="4892040" y="1874520"/>
            <a:ext cx="3566160" cy="274320"/>
          </a:xfrm>
          <a:prstGeom prst="rect">
            <a:avLst/>
          </a:prstGeom>
          <a:noFill/>
          <a:ln/>
        </p:spPr>
        <p:txBody>
          <a:bodyPr wrap="square" lIns="0" tIns="0" rIns="0" bIns="0" rtlCol="0" anchor="ctr"/>
          <a:lstStyle/>
          <a:p>
            <a:pPr marL="0" indent="0">
              <a:buNone/>
            </a:pPr>
            <a:r>
              <a:rPr lang="en-US" sz="1200" dirty="0">
                <a:solidFill>
                  <a:srgbClr val="3B82F6"/>
                </a:solidFill>
                <a:latin typeface="Calibri" pitchFamily="34" charset="0"/>
                <a:ea typeface="Calibri" pitchFamily="34" charset="-122"/>
                <a:cs typeface="Calibri" pitchFamily="34" charset="-120"/>
              </a:rPr>
              <a:t>AIボイスレコーダー</a:t>
            </a:r>
            <a:endParaRPr lang="en-US" sz="1200" dirty="0"/>
          </a:p>
        </p:txBody>
      </p:sp>
      <p:sp>
        <p:nvSpPr>
          <p:cNvPr id="10" name="Text 7"/>
          <p:cNvSpPr/>
          <p:nvPr/>
        </p:nvSpPr>
        <p:spPr>
          <a:xfrm>
            <a:off x="4892040" y="2331720"/>
            <a:ext cx="3566160" cy="228600"/>
          </a:xfrm>
          <a:prstGeom prst="rect">
            <a:avLst/>
          </a:prstGeom>
          <a:noFill/>
          <a:ln/>
        </p:spPr>
        <p:txBody>
          <a:bodyPr wrap="square" lIns="0" tIns="0" rIns="0" bIns="0" rtlCol="0" anchor="ctr"/>
          <a:lstStyle/>
          <a:p>
            <a:pPr marL="0" indent="0">
              <a:buNone/>
            </a:pPr>
            <a:r>
              <a:rPr lang="en-US" sz="1000" dirty="0">
                <a:solidFill>
                  <a:srgbClr val="8896AB"/>
                </a:solidFill>
                <a:latin typeface="Calibri" pitchFamily="34" charset="0"/>
                <a:ea typeface="Calibri" pitchFamily="34" charset="-122"/>
                <a:cs typeface="Calibri" pitchFamily="34" charset="-120"/>
              </a:rPr>
              <a:t>端末本体</a:t>
            </a:r>
            <a:endParaRPr lang="en-US" sz="1000" dirty="0"/>
          </a:p>
        </p:txBody>
      </p:sp>
      <p:sp>
        <p:nvSpPr>
          <p:cNvPr id="11" name="Text 8"/>
          <p:cNvSpPr/>
          <p:nvPr/>
        </p:nvSpPr>
        <p:spPr>
          <a:xfrm>
            <a:off x="4892040" y="2532888"/>
            <a:ext cx="3566160" cy="320040"/>
          </a:xfrm>
          <a:prstGeom prst="rect">
            <a:avLst/>
          </a:prstGeom>
          <a:noFill/>
          <a:ln/>
        </p:spPr>
        <p:txBody>
          <a:bodyPr wrap="square" lIns="0" tIns="0" rIns="0" bIns="0" rtlCol="0" anchor="ctr"/>
          <a:lstStyle/>
          <a:p>
            <a:pPr marL="0" indent="0">
              <a:buNone/>
            </a:pPr>
            <a:r>
              <a:rPr lang="en-US" sz="1800" b="1" dirty="0">
                <a:solidFill>
                  <a:srgbClr val="1A1F36"/>
                </a:solidFill>
                <a:latin typeface="Calibri" pitchFamily="34" charset="0"/>
                <a:ea typeface="Calibri" pitchFamily="34" charset="-122"/>
                <a:cs typeface="Calibri" pitchFamily="34" charset="-120"/>
              </a:rPr>
              <a:t>¥30,800</a:t>
            </a:r>
            <a:r>
              <a:rPr lang="en-US" sz="1000" dirty="0">
                <a:solidFill>
                  <a:srgbClr val="3D4663"/>
                </a:solidFill>
                <a:latin typeface="Calibri" pitchFamily="34" charset="0"/>
                <a:ea typeface="Calibri" pitchFamily="34" charset="-122"/>
                <a:cs typeface="Calibri" pitchFamily="34" charset="-120"/>
              </a:rPr>
              <a:t>  （税込 / 1台）</a:t>
            </a:r>
            <a:endParaRPr lang="en-US" sz="1800" dirty="0"/>
          </a:p>
        </p:txBody>
      </p:sp>
      <p:sp>
        <p:nvSpPr>
          <p:cNvPr id="12" name="Text 9"/>
          <p:cNvSpPr/>
          <p:nvPr/>
        </p:nvSpPr>
        <p:spPr>
          <a:xfrm>
            <a:off x="4892040" y="2971800"/>
            <a:ext cx="3566160" cy="228600"/>
          </a:xfrm>
          <a:prstGeom prst="rect">
            <a:avLst/>
          </a:prstGeom>
          <a:noFill/>
          <a:ln/>
        </p:spPr>
        <p:txBody>
          <a:bodyPr wrap="square" lIns="0" tIns="0" rIns="0" bIns="0" rtlCol="0" anchor="ctr"/>
          <a:lstStyle/>
          <a:p>
            <a:pPr marL="0" indent="0">
              <a:buNone/>
            </a:pPr>
            <a:r>
              <a:rPr lang="en-US" sz="1000" dirty="0">
                <a:solidFill>
                  <a:srgbClr val="8896AB"/>
                </a:solidFill>
                <a:latin typeface="Calibri" pitchFamily="34" charset="0"/>
                <a:ea typeface="Calibri" pitchFamily="34" charset="-122"/>
                <a:cs typeface="Calibri" pitchFamily="34" charset="-120"/>
              </a:rPr>
              <a:t>クラウド年間プラン</a:t>
            </a:r>
            <a:endParaRPr lang="en-US" sz="1000" dirty="0"/>
          </a:p>
        </p:txBody>
      </p:sp>
      <p:sp>
        <p:nvSpPr>
          <p:cNvPr id="13" name="Text 10"/>
          <p:cNvSpPr/>
          <p:nvPr/>
        </p:nvSpPr>
        <p:spPr>
          <a:xfrm>
            <a:off x="4892040" y="3172968"/>
            <a:ext cx="3566160" cy="320040"/>
          </a:xfrm>
          <a:prstGeom prst="rect">
            <a:avLst/>
          </a:prstGeom>
          <a:noFill/>
          <a:ln/>
        </p:spPr>
        <p:txBody>
          <a:bodyPr wrap="square" lIns="0" tIns="0" rIns="0" bIns="0" rtlCol="0" anchor="ctr"/>
          <a:lstStyle/>
          <a:p>
            <a:pPr marL="0" indent="0">
              <a:buNone/>
            </a:pPr>
            <a:r>
              <a:rPr lang="en-US" sz="1800" b="1" dirty="0">
                <a:solidFill>
                  <a:srgbClr val="1A1F36"/>
                </a:solidFill>
                <a:latin typeface="Calibri" pitchFamily="34" charset="0"/>
                <a:ea typeface="Calibri" pitchFamily="34" charset="-122"/>
                <a:cs typeface="Calibri" pitchFamily="34" charset="-120"/>
              </a:rPr>
              <a:t>¥40,000</a:t>
            </a:r>
            <a:r>
              <a:rPr lang="en-US" sz="1000" dirty="0">
                <a:solidFill>
                  <a:srgbClr val="3D4663"/>
                </a:solidFill>
                <a:latin typeface="Calibri" pitchFamily="34" charset="0"/>
                <a:ea typeface="Calibri" pitchFamily="34" charset="-122"/>
                <a:cs typeface="Calibri" pitchFamily="34" charset="-120"/>
              </a:rPr>
              <a:t>  （税込 / 年）</a:t>
            </a:r>
            <a:endParaRPr lang="en-US" sz="1800" dirty="0"/>
          </a:p>
        </p:txBody>
      </p:sp>
      <p:sp>
        <p:nvSpPr>
          <p:cNvPr id="14" name="Shape 11"/>
          <p:cNvSpPr/>
          <p:nvPr/>
        </p:nvSpPr>
        <p:spPr>
          <a:xfrm>
            <a:off x="4892040" y="3703320"/>
            <a:ext cx="3474720" cy="27432"/>
          </a:xfrm>
          <a:prstGeom prst="rect">
            <a:avLst/>
          </a:prstGeom>
          <a:solidFill>
            <a:srgbClr val="E8ECF1"/>
          </a:solidFill>
          <a:ln/>
        </p:spPr>
      </p:sp>
      <p:sp>
        <p:nvSpPr>
          <p:cNvPr id="15" name="Text 12"/>
          <p:cNvSpPr/>
          <p:nvPr/>
        </p:nvSpPr>
        <p:spPr>
          <a:xfrm>
            <a:off x="4892040" y="3794760"/>
            <a:ext cx="1828800" cy="274320"/>
          </a:xfrm>
          <a:prstGeom prst="rect">
            <a:avLst/>
          </a:prstGeom>
          <a:noFill/>
          <a:ln/>
        </p:spPr>
        <p:txBody>
          <a:bodyPr wrap="square" lIns="0" tIns="0" rIns="0" bIns="0" rtlCol="0" anchor="ctr"/>
          <a:lstStyle/>
          <a:p>
            <a:pPr marL="0" indent="0">
              <a:buNone/>
            </a:pPr>
            <a:r>
              <a:rPr lang="en-US" sz="1000" dirty="0">
                <a:solidFill>
                  <a:srgbClr val="8896AB"/>
                </a:solidFill>
                <a:latin typeface="Calibri" pitchFamily="34" charset="0"/>
                <a:ea typeface="Calibri" pitchFamily="34" charset="-122"/>
                <a:cs typeface="Calibri" pitchFamily="34" charset="-120"/>
              </a:rPr>
              <a:t>初期費用合計（1台）</a:t>
            </a:r>
            <a:endParaRPr lang="en-US" sz="1000" dirty="0"/>
          </a:p>
        </p:txBody>
      </p:sp>
      <p:sp>
        <p:nvSpPr>
          <p:cNvPr id="16" name="Text 13"/>
          <p:cNvSpPr/>
          <p:nvPr/>
        </p:nvSpPr>
        <p:spPr>
          <a:xfrm>
            <a:off x="6537960" y="3749040"/>
            <a:ext cx="1828800" cy="365760"/>
          </a:xfrm>
          <a:prstGeom prst="rect">
            <a:avLst/>
          </a:prstGeom>
          <a:noFill/>
          <a:ln/>
        </p:spPr>
        <p:txBody>
          <a:bodyPr wrap="square" lIns="0" tIns="0" rIns="0" bIns="0" rtlCol="0" anchor="ctr"/>
          <a:lstStyle/>
          <a:p>
            <a:pPr marL="0" indent="0" algn="r">
              <a:buNone/>
            </a:pPr>
            <a:r>
              <a:rPr lang="en-US" sz="2200" b="1" dirty="0">
                <a:solidFill>
                  <a:srgbClr val="3B82F6"/>
                </a:solidFill>
                <a:latin typeface="Calibri" pitchFamily="34" charset="0"/>
                <a:ea typeface="Calibri" pitchFamily="34" charset="-122"/>
                <a:cs typeface="Calibri" pitchFamily="34" charset="-120"/>
              </a:rPr>
              <a:t>¥70,800</a:t>
            </a:r>
            <a:endParaRPr lang="en-US" sz="2200" dirty="0"/>
          </a:p>
        </p:txBody>
      </p:sp>
      <p:sp>
        <p:nvSpPr>
          <p:cNvPr id="17" name="Text 14"/>
          <p:cNvSpPr/>
          <p:nvPr/>
        </p:nvSpPr>
        <p:spPr>
          <a:xfrm>
            <a:off x="731520" y="4754880"/>
            <a:ext cx="7680960" cy="274320"/>
          </a:xfrm>
          <a:prstGeom prst="rect">
            <a:avLst/>
          </a:prstGeom>
          <a:noFill/>
          <a:ln/>
        </p:spPr>
        <p:txBody>
          <a:bodyPr wrap="square" lIns="0" tIns="0" rIns="0" bIns="0" rtlCol="0" anchor="ctr"/>
          <a:lstStyle/>
          <a:p>
            <a:pPr marL="0" indent="0">
              <a:buNone/>
            </a:pPr>
            <a:r>
              <a:rPr lang="en-US" sz="1000" i="1" dirty="0">
                <a:solidFill>
                  <a:srgbClr val="8896AB"/>
                </a:solidFill>
                <a:latin typeface="Calibri" pitchFamily="34" charset="0"/>
                <a:ea typeface="Calibri" pitchFamily="34" charset="-122"/>
                <a:cs typeface="Calibri" pitchFamily="34" charset="-120"/>
              </a:rPr>
              <a:t>※ 別途初期費用として導入時にご購入いただきます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45720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Next Step</a:t>
            </a:r>
            <a:endParaRPr lang="en-US" sz="3600" dirty="0"/>
          </a:p>
        </p:txBody>
      </p:sp>
      <p:sp>
        <p:nvSpPr>
          <p:cNvPr id="4" name="Shape 2"/>
          <p:cNvSpPr/>
          <p:nvPr/>
        </p:nvSpPr>
        <p:spPr>
          <a:xfrm>
            <a:off x="914400" y="1463040"/>
            <a:ext cx="411480" cy="411480"/>
          </a:xfrm>
          <a:prstGeom prst="ellipse">
            <a:avLst/>
          </a:prstGeom>
          <a:solidFill>
            <a:srgbClr val="3B82F6"/>
          </a:solidFill>
          <a:ln/>
        </p:spPr>
      </p:sp>
      <p:sp>
        <p:nvSpPr>
          <p:cNvPr id="5" name="Text 3"/>
          <p:cNvSpPr/>
          <p:nvPr/>
        </p:nvSpPr>
        <p:spPr>
          <a:xfrm>
            <a:off x="914400" y="14630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554480" y="1444752"/>
            <a:ext cx="6583680" cy="457200"/>
          </a:xfrm>
          <a:prstGeom prst="rect">
            <a:avLst/>
          </a:prstGeom>
          <a:noFill/>
          <a:ln/>
        </p:spPr>
        <p:txBody>
          <a:bodyPr wrap="square" lIns="0" tIns="0" rIns="0" bIns="0" rtlCol="0" anchor="ctr"/>
          <a:lstStyle/>
          <a:p>
            <a:pPr marL="0" indent="0">
              <a:lnSpc>
                <a:spcPct val="140000"/>
              </a:lnSpc>
              <a:buNone/>
            </a:pPr>
            <a:r>
              <a:rPr lang="en-US" sz="1500" dirty="0">
                <a:solidFill>
                  <a:srgbClr val="FFFFFF"/>
                </a:solidFill>
                <a:latin typeface="Calibri" pitchFamily="34" charset="0"/>
                <a:ea typeface="Calibri" pitchFamily="34" charset="-122"/>
                <a:cs typeface="Calibri" pitchFamily="34" charset="-120"/>
              </a:rPr>
              <a:t>本日のデモをご確認いただき、ツールの有効性をご判断ください</a:t>
            </a:r>
            <a:endParaRPr lang="en-US" sz="1500" dirty="0"/>
          </a:p>
        </p:txBody>
      </p:sp>
      <p:sp>
        <p:nvSpPr>
          <p:cNvPr id="7" name="Shape 5"/>
          <p:cNvSpPr/>
          <p:nvPr/>
        </p:nvSpPr>
        <p:spPr>
          <a:xfrm>
            <a:off x="914400" y="2468880"/>
            <a:ext cx="411480" cy="411480"/>
          </a:xfrm>
          <a:prstGeom prst="ellipse">
            <a:avLst/>
          </a:prstGeom>
          <a:solidFill>
            <a:srgbClr val="3B82F6"/>
          </a:solidFill>
          <a:ln/>
        </p:spPr>
      </p:sp>
      <p:sp>
        <p:nvSpPr>
          <p:cNvPr id="8" name="Text 6"/>
          <p:cNvSpPr/>
          <p:nvPr/>
        </p:nvSpPr>
        <p:spPr>
          <a:xfrm>
            <a:off x="914400" y="24688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554480" y="2450592"/>
            <a:ext cx="6583680" cy="457200"/>
          </a:xfrm>
          <a:prstGeom prst="rect">
            <a:avLst/>
          </a:prstGeom>
          <a:noFill/>
          <a:ln/>
        </p:spPr>
        <p:txBody>
          <a:bodyPr wrap="square" lIns="0" tIns="0" rIns="0" bIns="0" rtlCol="0" anchor="ctr"/>
          <a:lstStyle/>
          <a:p>
            <a:pPr marL="0" indent="0">
              <a:lnSpc>
                <a:spcPct val="140000"/>
              </a:lnSpc>
              <a:buNone/>
            </a:pPr>
            <a:r>
              <a:rPr lang="en-US" sz="1500" dirty="0">
                <a:solidFill>
                  <a:srgbClr val="FFFFFF"/>
                </a:solidFill>
                <a:latin typeface="Calibri" pitchFamily="34" charset="0"/>
                <a:ea typeface="Calibri" pitchFamily="34" charset="-122"/>
                <a:cs typeface="Calibri" pitchFamily="34" charset="-120"/>
              </a:rPr>
              <a:t>Phase 1（30万円×2ヶ月）の開始をご承認いただければ、即座に開発着手します</a:t>
            </a:r>
            <a:endParaRPr lang="en-US" sz="1500" dirty="0"/>
          </a:p>
        </p:txBody>
      </p:sp>
      <p:sp>
        <p:nvSpPr>
          <p:cNvPr id="10" name="Shape 8"/>
          <p:cNvSpPr/>
          <p:nvPr/>
        </p:nvSpPr>
        <p:spPr>
          <a:xfrm>
            <a:off x="914400" y="3474720"/>
            <a:ext cx="411480" cy="411480"/>
          </a:xfrm>
          <a:prstGeom prst="ellipse">
            <a:avLst/>
          </a:prstGeom>
          <a:solidFill>
            <a:srgbClr val="3B82F6"/>
          </a:solidFill>
          <a:ln/>
        </p:spPr>
      </p:sp>
      <p:sp>
        <p:nvSpPr>
          <p:cNvPr id="11" name="Text 9"/>
          <p:cNvSpPr/>
          <p:nvPr/>
        </p:nvSpPr>
        <p:spPr>
          <a:xfrm>
            <a:off x="914400" y="34747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554480" y="3456432"/>
            <a:ext cx="6583680" cy="457200"/>
          </a:xfrm>
          <a:prstGeom prst="rect">
            <a:avLst/>
          </a:prstGeom>
          <a:noFill/>
          <a:ln/>
        </p:spPr>
        <p:txBody>
          <a:bodyPr wrap="square" lIns="0" tIns="0" rIns="0" bIns="0" rtlCol="0" anchor="ctr"/>
          <a:lstStyle/>
          <a:p>
            <a:pPr marL="0" indent="0">
              <a:lnSpc>
                <a:spcPct val="140000"/>
              </a:lnSpc>
              <a:buNone/>
            </a:pPr>
            <a:r>
              <a:rPr lang="en-US" sz="1500" dirty="0">
                <a:solidFill>
                  <a:srgbClr val="FFFFFF"/>
                </a:solidFill>
                <a:latin typeface="Calibri" pitchFamily="34" charset="0"/>
                <a:ea typeface="Calibri" pitchFamily="34" charset="-122"/>
                <a:cs typeface="Calibri" pitchFamily="34" charset="-120"/>
              </a:rPr>
              <a:t>2ヶ月間、隔週ミーティング＋チャットサポートで伴走しながらFMPJ仕様に磨き上げます</a:t>
            </a:r>
            <a:endParaRPr lang="en-US" sz="1500" dirty="0"/>
          </a:p>
        </p:txBody>
      </p:sp>
      <p:sp>
        <p:nvSpPr>
          <p:cNvPr id="13" name="Shape 11"/>
          <p:cNvSpPr/>
          <p:nvPr/>
        </p:nvSpPr>
        <p:spPr>
          <a:xfrm>
            <a:off x="731520" y="4206240"/>
            <a:ext cx="7680960" cy="27432"/>
          </a:xfrm>
          <a:prstGeom prst="rect">
            <a:avLst/>
          </a:prstGeom>
          <a:solidFill>
            <a:srgbClr val="3B82F6">
              <a:alpha val="50000"/>
            </a:srgbClr>
          </a:solidFill>
          <a:ln/>
        </p:spPr>
      </p:sp>
      <p:sp>
        <p:nvSpPr>
          <p:cNvPr id="14" name="Text 12"/>
          <p:cNvSpPr/>
          <p:nvPr/>
        </p:nvSpPr>
        <p:spPr>
          <a:xfrm>
            <a:off x="731520" y="4389120"/>
            <a:ext cx="7680960" cy="320040"/>
          </a:xfrm>
          <a:prstGeom prst="rect">
            <a:avLst/>
          </a:prstGeom>
          <a:noFill/>
          <a:ln/>
        </p:spPr>
        <p:txBody>
          <a:bodyPr wrap="square" lIns="0" tIns="0" rIns="0" bIns="0" rtlCol="0" anchor="ctr"/>
          <a:lstStyle/>
          <a:p>
            <a:pPr marL="0" indent="0" algn="ctr">
              <a:buNone/>
            </a:pPr>
            <a:r>
              <a:rPr lang="en-US" sz="1100" dirty="0">
                <a:solidFill>
                  <a:srgbClr val="8896AB"/>
                </a:solidFill>
                <a:latin typeface="Calibri" pitchFamily="34" charset="0"/>
                <a:ea typeface="Calibri" pitchFamily="34" charset="-122"/>
                <a:cs typeface="Calibri" pitchFamily="34" charset="-120"/>
              </a:rPr>
              <a:t>Soichi株式会社　｜　ai-advisory.soichi.tokyo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1371600"/>
            <a:ext cx="7315200" cy="548640"/>
          </a:xfrm>
          <a:prstGeom prst="rect">
            <a:avLst/>
          </a:prstGeom>
          <a:noFill/>
          <a:ln/>
        </p:spPr>
        <p:txBody>
          <a:bodyPr wrap="square" lIns="0" tIns="0" rIns="0" bIns="0" rtlCol="0" anchor="ctr"/>
          <a:lstStyle/>
          <a:p>
            <a:pPr marL="0" indent="0">
              <a:buNone/>
            </a:pPr>
            <a:r>
              <a:rPr lang="en-US" sz="1600" b="1" kern="0" spc="300" dirty="0">
                <a:solidFill>
                  <a:srgbClr val="3B82F6"/>
                </a:solidFill>
                <a:latin typeface="Calibri" pitchFamily="34" charset="0"/>
                <a:ea typeface="Calibri" pitchFamily="34" charset="-122"/>
                <a:cs typeface="Calibri" pitchFamily="34" charset="-120"/>
              </a:rPr>
              <a:t>Appendix</a:t>
            </a:r>
            <a:endParaRPr lang="en-US" sz="1600" dirty="0"/>
          </a:p>
        </p:txBody>
      </p:sp>
      <p:sp>
        <p:nvSpPr>
          <p:cNvPr id="4" name="Text 2"/>
          <p:cNvSpPr/>
          <p:nvPr/>
        </p:nvSpPr>
        <p:spPr>
          <a:xfrm>
            <a:off x="731520" y="201168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導入に関するQ&amp;A</a:t>
            </a:r>
            <a:endParaRPr lang="en-US" sz="3600" dirty="0"/>
          </a:p>
        </p:txBody>
      </p:sp>
      <p:sp>
        <p:nvSpPr>
          <p:cNvPr id="5" name="Text 3"/>
          <p:cNvSpPr/>
          <p:nvPr/>
        </p:nvSpPr>
        <p:spPr>
          <a:xfrm>
            <a:off x="731520" y="2834640"/>
            <a:ext cx="73152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想定されるご質問と回答</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731520" y="365760"/>
            <a:ext cx="7680960" cy="1097280"/>
          </a:xfrm>
          <a:prstGeom prst="rect">
            <a:avLst/>
          </a:prstGeom>
          <a:solidFill>
            <a:srgbClr val="1E2761"/>
          </a:solidFill>
          <a:ln/>
        </p:spPr>
      </p:sp>
      <p:sp>
        <p:nvSpPr>
          <p:cNvPr id="4" name="Text 2"/>
          <p:cNvSpPr/>
          <p:nvPr/>
        </p:nvSpPr>
        <p:spPr>
          <a:xfrm>
            <a:off x="1005840" y="457200"/>
            <a:ext cx="548640" cy="36576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Q1</a:t>
            </a:r>
            <a:endParaRPr lang="en-US" sz="2200" dirty="0"/>
          </a:p>
        </p:txBody>
      </p:sp>
      <p:sp>
        <p:nvSpPr>
          <p:cNvPr id="5" name="Text 3"/>
          <p:cNvSpPr/>
          <p:nvPr/>
        </p:nvSpPr>
        <p:spPr>
          <a:xfrm>
            <a:off x="1554480" y="457200"/>
            <a:ext cx="6583680" cy="914400"/>
          </a:xfrm>
          <a:prstGeom prst="rect">
            <a:avLst/>
          </a:prstGeom>
          <a:noFill/>
          <a:ln/>
        </p:spPr>
        <p:txBody>
          <a:bodyPr wrap="square" lIns="0" tIns="0" rIns="0" bIns="0" rtlCol="0" anchor="ctr"/>
          <a:lstStyle/>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費用対効果は具体的にどう測ればいいのか？</a:t>
            </a:r>
            <a:endParaRPr lang="en-US" sz="1500" dirty="0"/>
          </a:p>
        </p:txBody>
      </p:sp>
      <p:sp>
        <p:nvSpPr>
          <p:cNvPr id="6" name="Shape 4"/>
          <p:cNvSpPr/>
          <p:nvPr/>
        </p:nvSpPr>
        <p:spPr>
          <a:xfrm>
            <a:off x="731520" y="1645920"/>
            <a:ext cx="7680960" cy="3017520"/>
          </a:xfrm>
          <a:prstGeom prst="rect">
            <a:avLst/>
          </a:prstGeom>
          <a:solidFill>
            <a:srgbClr val="F5F7FA"/>
          </a:solidFill>
          <a:ln/>
          <a:effectLst>
            <a:outerShdw blurRad="76200" dist="25400" dir="8100000" algn="bl" rotWithShape="0">
              <a:srgbClr val="000000">
                <a:alpha val="10000"/>
              </a:srgbClr>
            </a:outerShdw>
          </a:effectLst>
        </p:spPr>
      </p:sp>
      <p:sp>
        <p:nvSpPr>
          <p:cNvPr id="7" name="Shape 5"/>
          <p:cNvSpPr/>
          <p:nvPr/>
        </p:nvSpPr>
        <p:spPr>
          <a:xfrm>
            <a:off x="731520" y="1645920"/>
            <a:ext cx="64008" cy="3017520"/>
          </a:xfrm>
          <a:prstGeom prst="rect">
            <a:avLst/>
          </a:prstGeom>
          <a:solidFill>
            <a:srgbClr val="10B981"/>
          </a:solidFill>
          <a:ln/>
        </p:spPr>
      </p:sp>
      <p:sp>
        <p:nvSpPr>
          <p:cNvPr id="8" name="Text 6"/>
          <p:cNvSpPr/>
          <p:nvPr/>
        </p:nvSpPr>
        <p:spPr>
          <a:xfrm>
            <a:off x="1005840" y="1737360"/>
            <a:ext cx="457200" cy="36576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A</a:t>
            </a:r>
            <a:endParaRPr lang="en-US" sz="2200" dirty="0"/>
          </a:p>
        </p:txBody>
      </p:sp>
      <p:sp>
        <p:nvSpPr>
          <p:cNvPr id="9" name="Text 7"/>
          <p:cNvSpPr/>
          <p:nvPr/>
        </p:nvSpPr>
        <p:spPr>
          <a:xfrm>
            <a:off x="1005840" y="2103120"/>
            <a:ext cx="7132320" cy="2377440"/>
          </a:xfrm>
          <a:prstGeom prst="rect">
            <a:avLst/>
          </a:prstGeom>
          <a:noFill/>
          <a:ln/>
        </p:spPr>
        <p:txBody>
          <a:bodyPr wrap="square" lIns="0" tIns="0" rIns="0" bIns="0" rtlCol="0" anchor="t"/>
          <a:lstStyle/>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最もわかりやすい指標は「議事録作成にかかる人件費の削減時間」です。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例えば、現在1回の理事会議事録に担当者が3〜4時間かけていらっしゃるとすれば、ツール導入後は確認・修正を含めて30分〜1時間程度に短縮できます。月に複数回の会議があれば、年間で相当な工数が浮きま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仮に月10時間の工数が8割削減されれば、月額3万円の利用料はほぼ人件費削減だけでペイします。開発期間の60万円も、年間の工数削減効果で1年以内に十分回収可能です。</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731520" y="365760"/>
            <a:ext cx="7680960" cy="1097280"/>
          </a:xfrm>
          <a:prstGeom prst="rect">
            <a:avLst/>
          </a:prstGeom>
          <a:solidFill>
            <a:srgbClr val="1E2761"/>
          </a:solidFill>
          <a:ln/>
        </p:spPr>
      </p:sp>
      <p:sp>
        <p:nvSpPr>
          <p:cNvPr id="4" name="Text 2"/>
          <p:cNvSpPr/>
          <p:nvPr/>
        </p:nvSpPr>
        <p:spPr>
          <a:xfrm>
            <a:off x="1005840" y="457200"/>
            <a:ext cx="548640" cy="36576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Q2</a:t>
            </a:r>
            <a:endParaRPr lang="en-US" sz="2200" dirty="0"/>
          </a:p>
        </p:txBody>
      </p:sp>
      <p:sp>
        <p:nvSpPr>
          <p:cNvPr id="5" name="Text 3"/>
          <p:cNvSpPr/>
          <p:nvPr/>
        </p:nvSpPr>
        <p:spPr>
          <a:xfrm>
            <a:off x="1554480" y="457200"/>
            <a:ext cx="6583680" cy="914400"/>
          </a:xfrm>
          <a:prstGeom prst="rect">
            <a:avLst/>
          </a:prstGeom>
          <a:noFill/>
          <a:ln/>
        </p:spPr>
        <p:txBody>
          <a:bodyPr wrap="square" lIns="0" tIns="0" rIns="0" bIns="0" rtlCol="0" anchor="ctr"/>
          <a:lstStyle/>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AIが間違った議事録を出したらどうするのか？</a:t>
            </a:r>
            <a:endParaRPr lang="en-US" sz="1500" dirty="0"/>
          </a:p>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理事会の記録に誤りは許されない。</a:t>
            </a:r>
            <a:endParaRPr lang="en-US" sz="1500" dirty="0"/>
          </a:p>
        </p:txBody>
      </p:sp>
      <p:sp>
        <p:nvSpPr>
          <p:cNvPr id="6" name="Shape 4"/>
          <p:cNvSpPr/>
          <p:nvPr/>
        </p:nvSpPr>
        <p:spPr>
          <a:xfrm>
            <a:off x="731520" y="1645920"/>
            <a:ext cx="7680960" cy="3017520"/>
          </a:xfrm>
          <a:prstGeom prst="rect">
            <a:avLst/>
          </a:prstGeom>
          <a:solidFill>
            <a:srgbClr val="F5F7FA"/>
          </a:solidFill>
          <a:ln/>
          <a:effectLst>
            <a:outerShdw blurRad="76200" dist="25400" dir="8100000" algn="bl" rotWithShape="0">
              <a:srgbClr val="000000">
                <a:alpha val="10000"/>
              </a:srgbClr>
            </a:outerShdw>
          </a:effectLst>
        </p:spPr>
      </p:sp>
      <p:sp>
        <p:nvSpPr>
          <p:cNvPr id="7" name="Shape 5"/>
          <p:cNvSpPr/>
          <p:nvPr/>
        </p:nvSpPr>
        <p:spPr>
          <a:xfrm>
            <a:off x="731520" y="1645920"/>
            <a:ext cx="64008" cy="3017520"/>
          </a:xfrm>
          <a:prstGeom prst="rect">
            <a:avLst/>
          </a:prstGeom>
          <a:solidFill>
            <a:srgbClr val="10B981"/>
          </a:solidFill>
          <a:ln/>
        </p:spPr>
      </p:sp>
      <p:sp>
        <p:nvSpPr>
          <p:cNvPr id="8" name="Text 6"/>
          <p:cNvSpPr/>
          <p:nvPr/>
        </p:nvSpPr>
        <p:spPr>
          <a:xfrm>
            <a:off x="1005840" y="1737360"/>
            <a:ext cx="457200" cy="36576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A</a:t>
            </a:r>
            <a:endParaRPr lang="en-US" sz="2200" dirty="0"/>
          </a:p>
        </p:txBody>
      </p:sp>
      <p:sp>
        <p:nvSpPr>
          <p:cNvPr id="9" name="Text 7"/>
          <p:cNvSpPr/>
          <p:nvPr/>
        </p:nvSpPr>
        <p:spPr>
          <a:xfrm>
            <a:off x="1005840" y="2103120"/>
            <a:ext cx="7132320" cy="2377440"/>
          </a:xfrm>
          <a:prstGeom prst="rect">
            <a:avLst/>
          </a:prstGeom>
          <a:noFill/>
          <a:ln/>
        </p:spPr>
        <p:txBody>
          <a:bodyPr wrap="square" lIns="0" tIns="0" rIns="0" bIns="0" rtlCol="0" anchor="t"/>
          <a:lstStyle/>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おっしゃる通りです。ですので、このツールは「完成版を自動で配信する」設計にはしません。</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必ず「ドラフト生成 → 担当者が確認・修正 → 確定」というワークフローを組みます。AIの役割は「80〜90%の精度の下書きを瞬時に作ること」であり、最終責任は常に人間が持ちます。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現状ゼロから手作業で書いている工程を「AIの下書きをチェックする工程」に置き換えることで、品質を保ちながら大幅に時間を短縮します。</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731520" y="365760"/>
            <a:ext cx="7680960" cy="1097280"/>
          </a:xfrm>
          <a:prstGeom prst="rect">
            <a:avLst/>
          </a:prstGeom>
          <a:solidFill>
            <a:srgbClr val="1E2761"/>
          </a:solidFill>
          <a:ln/>
        </p:spPr>
      </p:sp>
      <p:sp>
        <p:nvSpPr>
          <p:cNvPr id="4" name="Text 2"/>
          <p:cNvSpPr/>
          <p:nvPr/>
        </p:nvSpPr>
        <p:spPr>
          <a:xfrm>
            <a:off x="1005840" y="457200"/>
            <a:ext cx="548640" cy="36576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Q3</a:t>
            </a:r>
            <a:endParaRPr lang="en-US" sz="2200" dirty="0"/>
          </a:p>
        </p:txBody>
      </p:sp>
      <p:sp>
        <p:nvSpPr>
          <p:cNvPr id="5" name="Text 3"/>
          <p:cNvSpPr/>
          <p:nvPr/>
        </p:nvSpPr>
        <p:spPr>
          <a:xfrm>
            <a:off x="1554480" y="457200"/>
            <a:ext cx="6583680" cy="914400"/>
          </a:xfrm>
          <a:prstGeom prst="rect">
            <a:avLst/>
          </a:prstGeom>
          <a:noFill/>
          <a:ln/>
        </p:spPr>
        <p:txBody>
          <a:bodyPr wrap="square" lIns="0" tIns="0" rIns="0" bIns="0" rtlCol="0" anchor="ctr"/>
          <a:lstStyle/>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メンテナンスは誰がやるのか？</a:t>
            </a:r>
            <a:endParaRPr lang="en-US" sz="1500" dirty="0"/>
          </a:p>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忙しくなったら放置されないか？</a:t>
            </a:r>
            <a:endParaRPr lang="en-US" sz="1500" dirty="0"/>
          </a:p>
        </p:txBody>
      </p:sp>
      <p:sp>
        <p:nvSpPr>
          <p:cNvPr id="6" name="Shape 4"/>
          <p:cNvSpPr/>
          <p:nvPr/>
        </p:nvSpPr>
        <p:spPr>
          <a:xfrm>
            <a:off x="731520" y="1645920"/>
            <a:ext cx="7680960" cy="3017520"/>
          </a:xfrm>
          <a:prstGeom prst="rect">
            <a:avLst/>
          </a:prstGeom>
          <a:solidFill>
            <a:srgbClr val="F5F7FA"/>
          </a:solidFill>
          <a:ln/>
          <a:effectLst>
            <a:outerShdw blurRad="76200" dist="25400" dir="8100000" algn="bl" rotWithShape="0">
              <a:srgbClr val="000000">
                <a:alpha val="10000"/>
              </a:srgbClr>
            </a:outerShdw>
          </a:effectLst>
        </p:spPr>
      </p:sp>
      <p:sp>
        <p:nvSpPr>
          <p:cNvPr id="7" name="Shape 5"/>
          <p:cNvSpPr/>
          <p:nvPr/>
        </p:nvSpPr>
        <p:spPr>
          <a:xfrm>
            <a:off x="731520" y="1645920"/>
            <a:ext cx="64008" cy="3017520"/>
          </a:xfrm>
          <a:prstGeom prst="rect">
            <a:avLst/>
          </a:prstGeom>
          <a:solidFill>
            <a:srgbClr val="10B981"/>
          </a:solidFill>
          <a:ln/>
        </p:spPr>
      </p:sp>
      <p:sp>
        <p:nvSpPr>
          <p:cNvPr id="8" name="Text 6"/>
          <p:cNvSpPr/>
          <p:nvPr/>
        </p:nvSpPr>
        <p:spPr>
          <a:xfrm>
            <a:off x="1005840" y="1737360"/>
            <a:ext cx="457200" cy="36576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A</a:t>
            </a:r>
            <a:endParaRPr lang="en-US" sz="2200" dirty="0"/>
          </a:p>
        </p:txBody>
      </p:sp>
      <p:sp>
        <p:nvSpPr>
          <p:cNvPr id="9" name="Text 7"/>
          <p:cNvSpPr/>
          <p:nvPr/>
        </p:nvSpPr>
        <p:spPr>
          <a:xfrm>
            <a:off x="1005840" y="2103120"/>
            <a:ext cx="7132320" cy="2377440"/>
          </a:xfrm>
          <a:prstGeom prst="rect">
            <a:avLst/>
          </a:prstGeom>
          <a:noFill/>
          <a:ln/>
        </p:spPr>
        <p:txBody>
          <a:bodyPr wrap="square" lIns="0" tIns="0" rIns="0" bIns="0" rtlCol="0" anchor="t"/>
          <a:lstStyle/>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月額3万円の保守契約に、以下がすべて含まれます。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・AIモデルのアップデート対応</a:t>
            </a: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・フォーマット変更への反映</a:t>
            </a: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・不具合発生時の対応</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また、ツールの設計思想として「可能な限りシンプルな構成」にすることで、仮に将来的に別の技術者に引き継ぐ場合でも対応可能な透明性を確保します。ブラックボックスにはしません。</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731520" y="365760"/>
            <a:ext cx="7680960" cy="1097280"/>
          </a:xfrm>
          <a:prstGeom prst="rect">
            <a:avLst/>
          </a:prstGeom>
          <a:solidFill>
            <a:srgbClr val="1E2761"/>
          </a:solidFill>
          <a:ln/>
        </p:spPr>
      </p:sp>
      <p:sp>
        <p:nvSpPr>
          <p:cNvPr id="4" name="Text 2"/>
          <p:cNvSpPr/>
          <p:nvPr/>
        </p:nvSpPr>
        <p:spPr>
          <a:xfrm>
            <a:off x="1005840" y="457200"/>
            <a:ext cx="548640" cy="36576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Q4</a:t>
            </a:r>
            <a:endParaRPr lang="en-US" sz="2200" dirty="0"/>
          </a:p>
        </p:txBody>
      </p:sp>
      <p:sp>
        <p:nvSpPr>
          <p:cNvPr id="5" name="Text 3"/>
          <p:cNvSpPr/>
          <p:nvPr/>
        </p:nvSpPr>
        <p:spPr>
          <a:xfrm>
            <a:off x="1554480" y="457200"/>
            <a:ext cx="6583680" cy="914400"/>
          </a:xfrm>
          <a:prstGeom prst="rect">
            <a:avLst/>
          </a:prstGeom>
          <a:noFill/>
          <a:ln/>
        </p:spPr>
        <p:txBody>
          <a:bodyPr wrap="square" lIns="0" tIns="0" rIns="0" bIns="0" rtlCol="0" anchor="ctr"/>
          <a:lstStyle/>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うちのスタッフはITに強くない。</a:t>
            </a:r>
            <a:endParaRPr lang="en-US" sz="1500" dirty="0"/>
          </a:p>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本当に使いこなせるのか？</a:t>
            </a:r>
            <a:endParaRPr lang="en-US" sz="1500" dirty="0"/>
          </a:p>
        </p:txBody>
      </p:sp>
      <p:sp>
        <p:nvSpPr>
          <p:cNvPr id="6" name="Shape 4"/>
          <p:cNvSpPr/>
          <p:nvPr/>
        </p:nvSpPr>
        <p:spPr>
          <a:xfrm>
            <a:off x="731520" y="1645920"/>
            <a:ext cx="7680960" cy="3017520"/>
          </a:xfrm>
          <a:prstGeom prst="rect">
            <a:avLst/>
          </a:prstGeom>
          <a:solidFill>
            <a:srgbClr val="F5F7FA"/>
          </a:solidFill>
          <a:ln/>
          <a:effectLst>
            <a:outerShdw blurRad="76200" dist="25400" dir="8100000" algn="bl" rotWithShape="0">
              <a:srgbClr val="000000">
                <a:alpha val="10000"/>
              </a:srgbClr>
            </a:outerShdw>
          </a:effectLst>
        </p:spPr>
      </p:sp>
      <p:sp>
        <p:nvSpPr>
          <p:cNvPr id="7" name="Shape 5"/>
          <p:cNvSpPr/>
          <p:nvPr/>
        </p:nvSpPr>
        <p:spPr>
          <a:xfrm>
            <a:off x="731520" y="1645920"/>
            <a:ext cx="64008" cy="3017520"/>
          </a:xfrm>
          <a:prstGeom prst="rect">
            <a:avLst/>
          </a:prstGeom>
          <a:solidFill>
            <a:srgbClr val="10B981"/>
          </a:solidFill>
          <a:ln/>
        </p:spPr>
      </p:sp>
      <p:sp>
        <p:nvSpPr>
          <p:cNvPr id="8" name="Text 6"/>
          <p:cNvSpPr/>
          <p:nvPr/>
        </p:nvSpPr>
        <p:spPr>
          <a:xfrm>
            <a:off x="1005840" y="1737360"/>
            <a:ext cx="457200" cy="36576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A</a:t>
            </a:r>
            <a:endParaRPr lang="en-US" sz="2200" dirty="0"/>
          </a:p>
        </p:txBody>
      </p:sp>
      <p:sp>
        <p:nvSpPr>
          <p:cNvPr id="9" name="Text 7"/>
          <p:cNvSpPr/>
          <p:nvPr/>
        </p:nvSpPr>
        <p:spPr>
          <a:xfrm>
            <a:off x="1005840" y="2103120"/>
            <a:ext cx="7132320" cy="2377440"/>
          </a:xfrm>
          <a:prstGeom prst="rect">
            <a:avLst/>
          </a:prstGeom>
          <a:noFill/>
          <a:ln/>
        </p:spPr>
        <p:txBody>
          <a:bodyPr wrap="square" lIns="0" tIns="0" rIns="0" bIns="0" rtlCol="0" anchor="t"/>
          <a:lstStyle/>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まさにそこが専用ツールの最大の価値です。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汎用AIチャットの場合、スタッフにプロンプトの書き方を教育する必要がありますが、専用ツールは「文字起こしデータを貼り付ける」「画面の質問に答える」の2アクションだけで完結します。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実際の導入時には、FMPJ様の実際の会議データを使ったハンズオン研修も実施しますので、その場で全員が使えるようになります。</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731520" y="365760"/>
            <a:ext cx="7680960" cy="1097280"/>
          </a:xfrm>
          <a:prstGeom prst="rect">
            <a:avLst/>
          </a:prstGeom>
          <a:solidFill>
            <a:srgbClr val="1E2761"/>
          </a:solidFill>
          <a:ln/>
        </p:spPr>
      </p:sp>
      <p:sp>
        <p:nvSpPr>
          <p:cNvPr id="4" name="Text 2"/>
          <p:cNvSpPr/>
          <p:nvPr/>
        </p:nvSpPr>
        <p:spPr>
          <a:xfrm>
            <a:off x="1005840" y="457200"/>
            <a:ext cx="548640" cy="36576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Q5</a:t>
            </a:r>
            <a:endParaRPr lang="en-US" sz="2200" dirty="0"/>
          </a:p>
        </p:txBody>
      </p:sp>
      <p:sp>
        <p:nvSpPr>
          <p:cNvPr id="5" name="Text 3"/>
          <p:cNvSpPr/>
          <p:nvPr/>
        </p:nvSpPr>
        <p:spPr>
          <a:xfrm>
            <a:off x="1554480" y="457200"/>
            <a:ext cx="6583680" cy="914400"/>
          </a:xfrm>
          <a:prstGeom prst="rect">
            <a:avLst/>
          </a:prstGeom>
          <a:noFill/>
          <a:ln/>
        </p:spPr>
        <p:txBody>
          <a:bodyPr wrap="square" lIns="0" tIns="0" rIns="0" bIns="0" rtlCol="0" anchor="ctr"/>
          <a:lstStyle/>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セキュリティは本当に大丈夫なのか？</a:t>
            </a:r>
            <a:endParaRPr lang="en-US" sz="1500" dirty="0"/>
          </a:p>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理事の発言内容は極めてセンシティブだ。</a:t>
            </a:r>
            <a:endParaRPr lang="en-US" sz="1500" dirty="0"/>
          </a:p>
        </p:txBody>
      </p:sp>
      <p:sp>
        <p:nvSpPr>
          <p:cNvPr id="6" name="Shape 4"/>
          <p:cNvSpPr/>
          <p:nvPr/>
        </p:nvSpPr>
        <p:spPr>
          <a:xfrm>
            <a:off x="731520" y="1645920"/>
            <a:ext cx="7680960" cy="3017520"/>
          </a:xfrm>
          <a:prstGeom prst="rect">
            <a:avLst/>
          </a:prstGeom>
          <a:solidFill>
            <a:srgbClr val="F5F7FA"/>
          </a:solidFill>
          <a:ln/>
          <a:effectLst>
            <a:outerShdw blurRad="76200" dist="25400" dir="8100000" algn="bl" rotWithShape="0">
              <a:srgbClr val="000000">
                <a:alpha val="10000"/>
              </a:srgbClr>
            </a:outerShdw>
          </a:effectLst>
        </p:spPr>
      </p:sp>
      <p:sp>
        <p:nvSpPr>
          <p:cNvPr id="7" name="Shape 5"/>
          <p:cNvSpPr/>
          <p:nvPr/>
        </p:nvSpPr>
        <p:spPr>
          <a:xfrm>
            <a:off x="731520" y="1645920"/>
            <a:ext cx="64008" cy="3017520"/>
          </a:xfrm>
          <a:prstGeom prst="rect">
            <a:avLst/>
          </a:prstGeom>
          <a:solidFill>
            <a:srgbClr val="10B981"/>
          </a:solidFill>
          <a:ln/>
        </p:spPr>
      </p:sp>
      <p:sp>
        <p:nvSpPr>
          <p:cNvPr id="8" name="Text 6"/>
          <p:cNvSpPr/>
          <p:nvPr/>
        </p:nvSpPr>
        <p:spPr>
          <a:xfrm>
            <a:off x="1005840" y="1737360"/>
            <a:ext cx="457200" cy="36576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A</a:t>
            </a:r>
            <a:endParaRPr lang="en-US" sz="2200" dirty="0"/>
          </a:p>
        </p:txBody>
      </p:sp>
      <p:sp>
        <p:nvSpPr>
          <p:cNvPr id="9" name="Text 7"/>
          <p:cNvSpPr/>
          <p:nvPr/>
        </p:nvSpPr>
        <p:spPr>
          <a:xfrm>
            <a:off x="1005840" y="2103120"/>
            <a:ext cx="7132320" cy="2377440"/>
          </a:xfrm>
          <a:prstGeom prst="rect">
            <a:avLst/>
          </a:prstGeom>
          <a:noFill/>
          <a:ln/>
        </p:spPr>
        <p:txBody>
          <a:bodyPr wrap="square" lIns="0" tIns="0" rIns="0" bIns="0" rtlCol="0" anchor="t"/>
          <a:lstStyle/>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最も重要なご懸念だと認識しています。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本ツールはAnthropicのAPI（Claude）を利用しますが、API経由のデータはモデルの学習には一切使用されないことが利用規約で明文化されています。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さらに、ツール側でも処理完了後にデータを保持しない「ゼロデータ保持」の設計にします。無料チャットツールとは根本的にセキュリティレベルが異なる点を、技術的な根拠をもってご説明できます。</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Shape 1"/>
          <p:cNvSpPr/>
          <p:nvPr/>
        </p:nvSpPr>
        <p:spPr>
          <a:xfrm>
            <a:off x="731520" y="365760"/>
            <a:ext cx="7680960" cy="1097280"/>
          </a:xfrm>
          <a:prstGeom prst="rect">
            <a:avLst/>
          </a:prstGeom>
          <a:solidFill>
            <a:srgbClr val="1E2761"/>
          </a:solidFill>
          <a:ln/>
        </p:spPr>
      </p:sp>
      <p:sp>
        <p:nvSpPr>
          <p:cNvPr id="4" name="Text 2"/>
          <p:cNvSpPr/>
          <p:nvPr/>
        </p:nvSpPr>
        <p:spPr>
          <a:xfrm>
            <a:off x="1005840" y="457200"/>
            <a:ext cx="548640" cy="36576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Q6</a:t>
            </a:r>
            <a:endParaRPr lang="en-US" sz="2200" dirty="0"/>
          </a:p>
        </p:txBody>
      </p:sp>
      <p:sp>
        <p:nvSpPr>
          <p:cNvPr id="5" name="Text 3"/>
          <p:cNvSpPr/>
          <p:nvPr/>
        </p:nvSpPr>
        <p:spPr>
          <a:xfrm>
            <a:off x="1554480" y="457200"/>
            <a:ext cx="6583680" cy="914400"/>
          </a:xfrm>
          <a:prstGeom prst="rect">
            <a:avLst/>
          </a:prstGeom>
          <a:noFill/>
          <a:ln/>
        </p:spPr>
        <p:txBody>
          <a:bodyPr wrap="square" lIns="0" tIns="0" rIns="0" bIns="0" rtlCol="0" anchor="ctr"/>
          <a:lstStyle/>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なぜ2ヶ月もかかるのか？</a:t>
            </a:r>
            <a:endParaRPr lang="en-US" sz="1500" dirty="0"/>
          </a:p>
          <a:p>
            <a:pPr marL="0" indent="0">
              <a:lnSpc>
                <a:spcPct val="140000"/>
              </a:lnSpc>
              <a:buNone/>
            </a:pPr>
            <a:r>
              <a:rPr lang="en-US" sz="1500" b="1" dirty="0">
                <a:solidFill>
                  <a:srgbClr val="FFFFFF"/>
                </a:solidFill>
                <a:latin typeface="Calibri" pitchFamily="34" charset="0"/>
                <a:ea typeface="Calibri" pitchFamily="34" charset="-122"/>
                <a:cs typeface="Calibri" pitchFamily="34" charset="-120"/>
              </a:rPr>
              <a:t>デモがあるならすぐ使えるのでは？</a:t>
            </a:r>
            <a:endParaRPr lang="en-US" sz="1500" dirty="0"/>
          </a:p>
        </p:txBody>
      </p:sp>
      <p:sp>
        <p:nvSpPr>
          <p:cNvPr id="6" name="Shape 4"/>
          <p:cNvSpPr/>
          <p:nvPr/>
        </p:nvSpPr>
        <p:spPr>
          <a:xfrm>
            <a:off x="731520" y="1645920"/>
            <a:ext cx="7680960" cy="3017520"/>
          </a:xfrm>
          <a:prstGeom prst="rect">
            <a:avLst/>
          </a:prstGeom>
          <a:solidFill>
            <a:srgbClr val="F5F7FA"/>
          </a:solidFill>
          <a:ln/>
          <a:effectLst>
            <a:outerShdw blurRad="76200" dist="25400" dir="8100000" algn="bl" rotWithShape="0">
              <a:srgbClr val="000000">
                <a:alpha val="10000"/>
              </a:srgbClr>
            </a:outerShdw>
          </a:effectLst>
        </p:spPr>
      </p:sp>
      <p:sp>
        <p:nvSpPr>
          <p:cNvPr id="7" name="Shape 5"/>
          <p:cNvSpPr/>
          <p:nvPr/>
        </p:nvSpPr>
        <p:spPr>
          <a:xfrm>
            <a:off x="731520" y="1645920"/>
            <a:ext cx="64008" cy="3017520"/>
          </a:xfrm>
          <a:prstGeom prst="rect">
            <a:avLst/>
          </a:prstGeom>
          <a:solidFill>
            <a:srgbClr val="10B981"/>
          </a:solidFill>
          <a:ln/>
        </p:spPr>
      </p:sp>
      <p:sp>
        <p:nvSpPr>
          <p:cNvPr id="8" name="Text 6"/>
          <p:cNvSpPr/>
          <p:nvPr/>
        </p:nvSpPr>
        <p:spPr>
          <a:xfrm>
            <a:off x="1005840" y="1737360"/>
            <a:ext cx="457200" cy="36576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A</a:t>
            </a:r>
            <a:endParaRPr lang="en-US" sz="2200" dirty="0"/>
          </a:p>
        </p:txBody>
      </p:sp>
      <p:sp>
        <p:nvSpPr>
          <p:cNvPr id="9" name="Text 7"/>
          <p:cNvSpPr/>
          <p:nvPr/>
        </p:nvSpPr>
        <p:spPr>
          <a:xfrm>
            <a:off x="1005840" y="2103120"/>
            <a:ext cx="7132320" cy="2377440"/>
          </a:xfrm>
          <a:prstGeom prst="rect">
            <a:avLst/>
          </a:prstGeom>
          <a:noFill/>
          <a:ln/>
        </p:spPr>
        <p:txBody>
          <a:bodyPr wrap="square" lIns="0" tIns="0" rIns="0" bIns="0" rtlCol="0" anchor="t"/>
          <a:lstStyle/>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デモはあくまで汎用的な議事録生成の仕組みをお見せするものです。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FMPJ様の正式なフォーマット、用語、会議の進行スタイル、理事会と各委員会での議事録の粒度の違い──こうした「FMPJ固有の文脈」をツールに正確に反映するには、実際の会議データで繰り返しチューニングする工程が不可欠です。</a:t>
            </a:r>
            <a:endParaRPr lang="en-US" sz="1200" dirty="0"/>
          </a:p>
          <a:p>
            <a:pPr marL="0" indent="0">
              <a:lnSpc>
                <a:spcPct val="160000"/>
              </a:lnSpc>
              <a:buNone/>
            </a:pPr>
            <a:endParaRPr lang="en-US" sz="1200" dirty="0"/>
          </a:p>
          <a:p>
            <a:pPr marL="0" indent="0">
              <a:lnSpc>
                <a:spcPct val="160000"/>
              </a:lnSpc>
              <a:buNone/>
            </a:pPr>
            <a:r>
              <a:rPr lang="en-US" sz="1200" dirty="0">
                <a:solidFill>
                  <a:srgbClr val="3D4663"/>
                </a:solidFill>
                <a:latin typeface="Calibri" pitchFamily="34" charset="0"/>
                <a:ea typeface="Calibri" pitchFamily="34" charset="-122"/>
                <a:cs typeface="Calibri" pitchFamily="34" charset="-120"/>
              </a:rPr>
              <a:t>2ヶ月間の並行運用で、手動議事録とツール出力を比較しながらズレを潰していくことで、3ヶ月目から安心して本番移行できる品質を担保します。</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823</Words>
  <Application>Microsoft Macintosh PowerPoint</Application>
  <PresentationFormat>画面に合わせる (16:9)</PresentationFormat>
  <Paragraphs>220</Paragraphs>
  <Slides>17</Slides>
  <Notes>17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FMPJ様 AI業務効率化ご提案</dc:title>
  <dc:subject>PptxGenJS Presentation</dc:subject>
  <dc:creator>Soichi株式会社</dc:creator>
  <cp:lastModifiedBy>Akira Soichi</cp:lastModifiedBy>
  <cp:revision>2</cp:revision>
  <dcterms:created xsi:type="dcterms:W3CDTF">2026-03-01T06:31:50Z</dcterms:created>
  <dcterms:modified xsi:type="dcterms:W3CDTF">2026-03-01T06:39:35Z</dcterms:modified>
</cp:coreProperties>
</file>