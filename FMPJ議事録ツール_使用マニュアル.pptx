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  <a:latin typeface="Meiryo"/>
              </a:defRPr>
            </a:pPr>
            <a:r>
              <a:t>FMPJ議事録ツール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Meiryo"/>
              </a:defRPr>
            </a:pPr>
            <a:r>
              <a:t>使用マニュアル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38328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Meiryo"/>
              </a:defRPr>
            </a:pPr>
            <a:r>
              <a:t>AI自動議事録生成システム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389120"/>
            <a:ext cx="5760720" cy="10972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5262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4748B"/>
                </a:solidFill>
                <a:latin typeface="Meiryo"/>
              </a:defRPr>
            </a:pPr>
            <a:r>
              <a:t>PLAUDボイスレコーダーの文字起こしデータから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64748B"/>
                </a:solidFill>
                <a:latin typeface="Meiryo"/>
              </a:defRPr>
            </a:pPr>
            <a:r>
              <a:t>Claude AIが自動で議事録・ToDoリストを作成します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Meiryo"/>
              </a:defRPr>
            </a:pPr>
            <a:r>
              <a:t>一般社団法人 日本音楽制作者連盟（FMPJ）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eiryo"/>
              </a:defRPr>
            </a:pPr>
            <a:r>
              <a:t>📋  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2801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61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全体フロー概要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361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eiryo"/>
              </a:defRPr>
            </a:pPr>
            <a:r>
              <a:t>ツールの全体的な使い方の流れ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18745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事前準備：PLAUDで文字起こし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30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eiryo"/>
              </a:defRPr>
            </a:pPr>
            <a:r>
              <a:t>ボイスレコーダーでの録音と文字起こしデータの取得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24688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50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ログイン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249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eiryo"/>
              </a:defRPr>
            </a:pPr>
            <a:r>
              <a:t>ツールへのアクセスとパスワード認証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0632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044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Step 1：会議情報入力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3192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eiryo"/>
              </a:defRPr>
            </a:pPr>
            <a:r>
              <a:t>会議名、日時、出席者、文字起こしデータの入力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36576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639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Step 2：話者特定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9136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eiryo"/>
              </a:defRPr>
            </a:pPr>
            <a:r>
              <a:t>Speaker ラベルを実名に変換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42519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233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Step 3：議事録生成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079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eiryo"/>
              </a:defRPr>
            </a:pPr>
            <a:r>
              <a:t>Claude AIによる自動生成（ストリーミング）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48463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8280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Step 4：結果表示・ダウンロード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1023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eiryo"/>
              </a:defRPr>
            </a:pPr>
            <a:r>
              <a:t>議事録とToDoリストの確認・出力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" y="54406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422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フォーマット設定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6967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eiryo"/>
              </a:defRPr>
            </a:pPr>
            <a:r>
              <a:t>議事録フォーマットのカスタマイズ</a:t>
            </a:r>
          </a:p>
        </p:txBody>
      </p:sp>
      <p:sp>
        <p:nvSpPr>
          <p:cNvPr id="30" name="Oval 29"/>
          <p:cNvSpPr/>
          <p:nvPr/>
        </p:nvSpPr>
        <p:spPr>
          <a:xfrm>
            <a:off x="1097280" y="60350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6016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過去の議事録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62910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eiryo"/>
              </a:defRPr>
            </a:pPr>
            <a:r>
              <a:t>生成済み議事録の閲覧と管理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eiryo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eiryo"/>
              </a:defRPr>
            </a:pPr>
            <a:r>
              <a:t>1.  全体フロー概要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6984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417320" cy="13716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Meiryo"/>
              </a:defRPr>
            </a:pPr>
            <a:r>
              <a:t>🎙️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PLAUD録音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Meiryo"/>
              </a:defRPr>
            </a:pPr>
            <a:r>
              <a:t>会議を録音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8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1371600"/>
            <a:ext cx="1417320" cy="13716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688" y="14630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Meiryo"/>
              </a:defRPr>
            </a:pPr>
            <a: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18288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文字起こし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21031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Meiryo"/>
              </a:defRPr>
            </a:pPr>
            <a:r>
              <a:t>テキスト化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94176" y="1371600"/>
            <a:ext cx="1417320" cy="13716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14630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Meiryo"/>
              </a:defRPr>
            </a:pPr>
            <a:r>
              <a:t>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5616" y="18288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ログイン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5616" y="21031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Meiryo"/>
              </a:defRPr>
            </a:pPr>
            <a:r>
              <a:t>ツールにアクセス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4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2664" y="1371600"/>
            <a:ext cx="1417320" cy="13716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2664" y="14630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Meiryo"/>
              </a:defRPr>
            </a:pPr>
            <a: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18288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情報入力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21031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Meiryo"/>
              </a:defRPr>
            </a:pPr>
            <a:r>
              <a:t>会議情報+</a:t>
            </a:r>
          </a:p>
          <a:p>
            <a:pPr algn="ctr">
              <a:defRPr sz="900">
                <a:solidFill>
                  <a:srgbClr val="64748B"/>
                </a:solidFill>
                <a:latin typeface="Meiryo"/>
              </a:defRPr>
            </a:pPr>
            <a:r>
              <a:t>文字起こし貼付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2" y="1371600"/>
            <a:ext cx="1417320" cy="13716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14630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Meiryo"/>
              </a:defRPr>
            </a:pPr>
            <a: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18288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話者特定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1031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Meiryo"/>
              </a:defRPr>
            </a:pPr>
            <a:r>
              <a:t>Speaker→実名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1371600"/>
            <a:ext cx="1417320" cy="13716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14630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Meiryo"/>
              </a:defRPr>
            </a:pPr>
            <a:r>
              <a:t>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18288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AI生成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1031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Meiryo"/>
              </a:defRPr>
            </a:pPr>
            <a:r>
              <a:t>議事録を自動生成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68128" y="1371600"/>
            <a:ext cx="1417320" cy="13716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68128" y="14630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Meiryo"/>
              </a:defRPr>
            </a:pPr>
            <a: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9568" y="18288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完成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9568" y="210312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Meiryo"/>
              </a:defRPr>
            </a:pPr>
            <a:r>
              <a:t>コピー/DL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💡 ポイント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3566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eiryo"/>
              </a:defRPr>
            </a:pPr>
            <a:r>
              <a:t>•  所要時間：入力〜議事録完成まで約3〜5分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39136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eiryo"/>
              </a:defRPr>
            </a:pPr>
            <a:r>
              <a:t>•  データはブラウザ上で処理、サーバーには一切保存されません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261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eiryo"/>
              </a:defRPr>
            </a:pPr>
            <a:r>
              <a:t>•  Markdown形式でコピー・ダウンロード可能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46085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eiryo"/>
              </a:defRPr>
            </a:pPr>
            <a:r>
              <a:t>•  過去の議事録はローカルストレージに自動保存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3011805"/>
            <a:ext cx="4206240" cy="266319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057525"/>
            <a:ext cx="4114800" cy="25717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eiryo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eiryo"/>
              </a:defRPr>
            </a:pPr>
            <a:r>
              <a:t>2.  事前準備：PLAUDで文字起こし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6984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eiryo"/>
              </a:defRPr>
            </a:pPr>
            <a:r>
              <a:t>手順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73736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19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PLAUDで会議を録音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eiryo"/>
              </a:defRPr>
            </a:pPr>
            <a:r>
              <a:t>会議開始時にPLAUDボイスレコーダーで録音を開始します。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83464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16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文字起こしを実行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eiryo"/>
              </a:defRPr>
            </a:pPr>
            <a:r>
              <a:t>録音完了後、PLAUDアプリで「文字起こし」を実行します。</a:t>
            </a:r>
          </a:p>
          <a:p>
            <a:pPr>
              <a:defRPr sz="1100">
                <a:solidFill>
                  <a:srgbClr val="64748B"/>
                </a:solidFill>
                <a:latin typeface="Meiryo"/>
              </a:defRPr>
            </a:pPr>
            <a:r>
              <a:t>「話者分離」機能を有効にしてください。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3192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136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テキストをコピー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eiryo"/>
              </a:defRPr>
            </a:pPr>
            <a:r>
              <a:t>文字起こし結果のテキスト全体を選択してコピーします。</a:t>
            </a:r>
          </a:p>
          <a:p>
            <a:pPr>
              <a:defRPr sz="1100">
                <a:solidFill>
                  <a:srgbClr val="64748B"/>
                </a:solidFill>
                <a:latin typeface="Meiryo"/>
              </a:defRPr>
            </a:pPr>
            <a:r>
              <a:t>「Speaker 1」等のラベル付きでコピーしてください。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5029200" cy="9144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Meiryo"/>
              </a:defRPr>
            </a:pPr>
            <a:r>
              <a:t>💡 ヒント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4748B"/>
                </a:solidFill>
                <a:latin typeface="Meiryo"/>
              </a:defRPr>
            </a:pPr>
            <a:r>
              <a:t>PLAUDの「話者分離」機能でSpeaker 1, 2 等が自動付与されます。Step 2で実名に変換します。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443631"/>
            <a:ext cx="5394960" cy="4519378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0_pla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89351"/>
            <a:ext cx="5303520" cy="44279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eiryo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eiryo"/>
              </a:defRPr>
            </a:pPr>
            <a:r>
              <a:t>3.  ログイン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6984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eiryo"/>
              </a:defRPr>
            </a:pPr>
            <a:r>
              <a:t>アクセス方法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73736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19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ブラウザでアクセス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eiryo"/>
              </a:defRPr>
            </a:pPr>
            <a:r>
              <a:t>下記URLをブラウザで開きます：</a:t>
            </a:r>
          </a:p>
          <a:p>
            <a:pPr>
              <a:defRPr sz="1100">
                <a:solidFill>
                  <a:srgbClr val="64748B"/>
                </a:solidFill>
                <a:latin typeface="Meiryo"/>
              </a:defRPr>
            </a:pPr>
            <a:r>
              <a:t>https://fmpj-minutes-tool.vercel.app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69748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79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パスワードを入力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eiryo"/>
              </a:defRPr>
            </a:pPr>
            <a:r>
              <a:t>共有されたパスワードを入力します。</a:t>
            </a:r>
          </a:p>
          <a:p>
            <a:pPr>
              <a:defRPr sz="1100">
                <a:solidFill>
                  <a:srgbClr val="64748B"/>
                </a:solidFill>
                <a:latin typeface="Meiryo"/>
              </a:defRPr>
            </a:pPr>
            <a:r>
              <a:t>👁 目のアイコンで入力内容を確認できます。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5760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39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ログインをクリック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31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eiryo"/>
              </a:defRPr>
            </a:pPr>
            <a:r>
              <a:t>「ログイン」ボタンをクリックすると</a:t>
            </a:r>
          </a:p>
          <a:p>
            <a:pPr>
              <a:defRPr sz="1100">
                <a:solidFill>
                  <a:srgbClr val="64748B"/>
                </a:solidFill>
                <a:latin typeface="Meiryo"/>
              </a:defRPr>
            </a:pPr>
            <a:r>
              <a:t>ダッシュボードに移動します。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502920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eiryo"/>
              </a:defRPr>
            </a:pPr>
            <a:r>
              <a:t>ℹ️ セッションは24時間有効です。期限切れ後は再ログインが必要です。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000250"/>
            <a:ext cx="5394960" cy="340614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45970"/>
            <a:ext cx="5303520" cy="3314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eiryo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eiryo"/>
              </a:defRPr>
            </a:pPr>
            <a:r>
              <a:t>4.  Step 1：会議情報入力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6984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eiryo"/>
              </a:defRPr>
            </a:pPr>
            <a:r>
              <a:t>入力項目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▸  会議名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例：第10回理事会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082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▸  会議種別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2082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理事会 / 委員会 / 総会 / 部会 / WG / その他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▸  開催日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5000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会議の開催日を入力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▸  開催場所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6791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例：連盟会議室 / オンライン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0837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▸  出席者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00837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出席者名を改行区切りで入力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▸  フォーマット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3375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事前設定したテンプレートを選択（任意）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6674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▸  文字起こし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66674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PLAUDからコピーしたテキストを貼り付け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5029200" cy="146304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Meiryo"/>
              </a:defRPr>
            </a:pPr>
            <a:r>
              <a:t>💡 ヒント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64748B"/>
                </a:solidFill>
                <a:latin typeface="Meiryo"/>
              </a:defRPr>
            </a:pPr>
            <a:r>
              <a:t>• 出席者名はStep 2の話者特定候補に使われます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4748B"/>
                </a:solidFill>
                <a:latin typeface="Meiryo"/>
              </a:defRPr>
            </a:pPr>
            <a:r>
              <a:t>• テンプレートで出力形式をカスタマイズ可能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4748B"/>
                </a:solidFill>
                <a:latin typeface="Meiryo"/>
              </a:defRPr>
            </a:pPr>
            <a:r>
              <a:t>• 入力完了後「次へ」をクリック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000250"/>
            <a:ext cx="5394960" cy="340614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3_step1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45970"/>
            <a:ext cx="5303520" cy="3314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eiryo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eiryo"/>
              </a:defRPr>
            </a:pPr>
            <a:r>
              <a:t>5.  Step 2：話者特定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6984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eiryo"/>
              </a:defRPr>
            </a:pPr>
            <a:r>
              <a:t>操作方法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eiryo"/>
              </a:defRPr>
            </a:pPr>
            <a:r>
              <a:t>文字起こしデータから「Speaker 1」「Speaker 2」等が自動検出されます。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割り当て方法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eiryo"/>
              </a:defRPr>
            </a:pPr>
            <a:r>
              <a:t>方法1：出席者チップをクリック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9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画面上部の名前チップをクリックで自動入力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eiryo"/>
              </a:defRPr>
            </a:pPr>
            <a:r>
              <a:t>方法2：直接入力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入力欄に実名を直接入力（サジェスト付き）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💡 各Speakerの横の「(◯回発言)」で発言頻度を確認し、正しい人物を特定してください。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5029200" cy="73152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A580C"/>
                </a:solidFill>
                <a:latin typeface="Meiryo"/>
              </a:defRPr>
            </a:pPr>
            <a:r>
              <a:t>⚠️ すべてのSpeakerに実名を割り当ててから「議事録を生成する」をクリック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000250"/>
            <a:ext cx="5394960" cy="340614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5_step2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45970"/>
            <a:ext cx="5303520" cy="3314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eiryo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eiryo"/>
              </a:defRPr>
            </a:pPr>
            <a:r>
              <a:t>6.  Step 3：議事録生成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6984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eiryo"/>
              </a:defRPr>
            </a:pPr>
            <a:r>
              <a:t>生成プロセス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eiryo"/>
              </a:defRPr>
            </a:pPr>
            <a:r>
              <a:t>Claude AI（Anthropic社）が文字起こしデータを分析し、議事録とToDoリストを自動生成します。</a:t>
            </a:r>
          </a:p>
          <a:p>
            <a:pPr algn="l">
              <a:spcBef>
                <a:spcPts val="0"/>
              </a:spcBef>
              <a:defRPr sz="4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Bef>
                <a:spcPts val="800"/>
              </a:spcBef>
              <a:defRPr sz="1300" b="1">
                <a:solidFill>
                  <a:srgbClr val="1A1A2E"/>
                </a:solidFill>
                <a:latin typeface="Meiryo"/>
              </a:defRPr>
            </a:pPr>
            <a:r>
              <a:t>生成内容：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64748B"/>
                </a:solidFill>
                <a:latin typeface="Meiryo"/>
              </a:defRPr>
            </a:pPr>
            <a:r>
              <a:t>  ✅  議事録（ヘッダー + 議事内容 + 決定事項）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4748B"/>
                </a:solidFill>
                <a:latin typeface="Meiryo"/>
              </a:defRPr>
            </a:pPr>
            <a:r>
              <a:t>  ✅  ToDoリスト（担当者・タスク・期限）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502920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2E"/>
                </a:solidFill>
                <a:latin typeface="Meiryo"/>
              </a:defRPr>
            </a:pPr>
            <a:r>
              <a:t>🔧 生成中の操作</a:t>
            </a:r>
          </a:p>
          <a:p>
            <a:pPr algn="l">
              <a:spcBef>
                <a:spcPts val="800"/>
              </a:spcBef>
              <a:defRPr sz="1100" b="0">
                <a:solidFill>
                  <a:srgbClr val="64748B"/>
                </a:solidFill>
                <a:latin typeface="Meiryo"/>
              </a:defRPr>
            </a:pPr>
            <a:r>
              <a:t>• ストリーミング表示でリアルタイムに確認可能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64748B"/>
                </a:solidFill>
                <a:latin typeface="Meiryo"/>
              </a:defRPr>
            </a:pPr>
            <a:r>
              <a:t>• 所要時間：約30秒〜1分（1時間の会議）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64748B"/>
                </a:solidFill>
                <a:latin typeface="Meiryo"/>
              </a:defRPr>
            </a:pPr>
            <a:r>
              <a:t>• キャンセルボタンで途中中断可能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64748B"/>
                </a:solidFill>
                <a:latin typeface="Meiryo"/>
              </a:defRPr>
            </a:pPr>
            <a:r>
              <a:t>• 完了後、自動でStep 4に移動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000250"/>
            <a:ext cx="5394960" cy="340614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step3_gene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45970"/>
            <a:ext cx="5303520" cy="3314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eiryo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eiryo"/>
              </a:defRPr>
            </a:pPr>
            <a:r>
              <a:t>7.  Step 4：結果表示・ダウンロード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6984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eiryo"/>
              </a:defRPr>
            </a:pPr>
            <a:r>
              <a:t>出力内容と操作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029200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Meiryo"/>
              </a:defRPr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eiryo"/>
              </a:defRPr>
            </a:pPr>
            <a:r>
              <a:t>コピー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2140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eiryo"/>
              </a:defRPr>
            </a:pPr>
            <a:r>
              <a:t>各セクションの「コピー」ボタンで</a:t>
            </a:r>
          </a:p>
          <a:p>
            <a:pPr>
              <a:defRPr sz="1000">
                <a:solidFill>
                  <a:srgbClr val="64748B"/>
                </a:solidFill>
                <a:latin typeface="Meiryo"/>
              </a:defRPr>
            </a:pPr>
            <a:r>
              <a:t>クリップボードにコピー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5029200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Meiryo"/>
              </a:defRPr>
            </a:pPr>
            <a:r>
              <a:t>⬇️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eiryo"/>
              </a:defRPr>
            </a:pPr>
            <a:r>
              <a:t>ダウンロード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6440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eiryo"/>
              </a:defRPr>
            </a:pPr>
            <a:r>
              <a:t>「Markdownでダウンロード」で</a:t>
            </a:r>
          </a:p>
          <a:p>
            <a:pPr>
              <a:defRPr sz="1000">
                <a:solidFill>
                  <a:srgbClr val="64748B"/>
                </a:solidFill>
                <a:latin typeface="Meiryo"/>
              </a:defRPr>
            </a:pPr>
            <a:r>
              <a:t>.mdファイルとして保存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5029200" cy="10058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Meiryo"/>
              </a:defRPr>
            </a:pPr>
            <a: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eiryo"/>
              </a:defRPr>
            </a:pPr>
            <a:r>
              <a:t>やり直し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0740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eiryo"/>
              </a:defRPr>
            </a:pPr>
            <a:r>
              <a:t>「最初からやり直す」で</a:t>
            </a:r>
          </a:p>
          <a:p>
            <a:pPr>
              <a:defRPr sz="1000">
                <a:solidFill>
                  <a:srgbClr val="64748B"/>
                </a:solidFill>
                <a:latin typeface="Meiryo"/>
              </a:defRPr>
            </a:pPr>
            <a:r>
              <a:t>Step 1に戻って新規作成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5029200" cy="54864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852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59669"/>
                </a:solidFill>
                <a:latin typeface="Meiryo"/>
              </a:defRPr>
            </a:pPr>
            <a:r>
              <a:t>✅ 生成結果は「過去の議事録」に自動保存されます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000250"/>
            <a:ext cx="5394960" cy="340614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7_step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45970"/>
            <a:ext cx="5303520" cy="3314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eiryo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eiryo"/>
              </a:defRPr>
            </a:pPr>
            <a:r>
              <a:t>8.  フォーマット設定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6984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eiryo"/>
              </a:defRPr>
            </a:pPr>
            <a:r>
              <a:t>テンプレート管理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eiryo"/>
              </a:defRPr>
            </a:pPr>
            <a:r>
              <a:t>ナビゲーションの「フォーマット設定」から、議事録フォーマットをカスタマイズできます。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▸  テンプレート名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例：理事会用フォーマット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▸  会議種別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889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対象の会議種別を選択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▸  フォーマット指示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089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追加の書式ルール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▸  サンプル出力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29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過去の議事録（Few-shot学習用）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029200" cy="18288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Meiryo"/>
              </a:defRPr>
            </a:pPr>
            <a:r>
              <a:t>💡 サンプル出力の活用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64748B"/>
                </a:solidFill>
                <a:latin typeface="Meiryo"/>
              </a:defRPr>
            </a:pPr>
            <a:r>
              <a:t>過去の議事録をサンプルとして設定すると、AIがそのスタイルを学習し同様の形式で生成します。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4748B"/>
                </a:solidFill>
                <a:latin typeface="Meiryo"/>
              </a:defRPr>
            </a:pPr>
            <a:r>
              <a:t>初回は手動作成の議事録を設定→2回目以降はAI生成の議事録をそのまま利用できます。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000250"/>
            <a:ext cx="5394960" cy="340614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0_format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45970"/>
            <a:ext cx="5303520" cy="3314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eiryo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eiryo"/>
              </a:defRPr>
            </a:pPr>
            <a:r>
              <a:t>9.  過去の議事録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698480" cy="182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eiryo"/>
              </a:defRPr>
            </a:pPr>
            <a:r>
              <a:t>履歴管理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eiryo"/>
              </a:defRPr>
            </a:pPr>
            <a:r>
              <a:t>「過去の議事録」で生成済み議事録の閲覧・検索・出力が可能です。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🏷️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会議種別フィルター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86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カテゴリで絞り込み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1518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テキスト検索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151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会議名・内容・出席者で検索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443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9443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内容表示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9443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カードクリックで全文展開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735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735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コピー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2735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クリップボードにコピー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027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⬇️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60273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ダウンロード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6027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Markdownファイルで保存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🗑️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931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eiryo"/>
              </a:defRPr>
            </a:pPr>
            <a:r>
              <a:t>削除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eiryo"/>
              </a:defRPr>
            </a:pPr>
            <a:r>
              <a:t>不要な議事録を削除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80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Meiryo"/>
              </a:defRPr>
            </a:pPr>
            <a:r>
              <a:t>⚠️ データ保存について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4748B"/>
                </a:solidFill>
                <a:latin typeface="Meiryo"/>
              </a:defRPr>
            </a:pPr>
            <a:r>
              <a:t>データはブラウザのローカルストレージに保存されます。ブラウザのキャッシュ削除で履歴も消えますのでご注意ください。重要な議事録は必ずダウンロードして保管してください。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000250"/>
            <a:ext cx="5394960" cy="340614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11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45970"/>
            <a:ext cx="5303520" cy="33147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eiryo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